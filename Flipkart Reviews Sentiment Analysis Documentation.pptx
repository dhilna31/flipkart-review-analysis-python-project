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2" r:id="rId4"/>
  </p:sldMasterIdLst>
  <p:notesMasterIdLst>
    <p:notesMasterId r:id="rId19"/>
  </p:notesMasterIdLst>
  <p:handoutMasterIdLst>
    <p:handoutMasterId r:id="rId20"/>
  </p:handoutMasterIdLst>
  <p:sldIdLst>
    <p:sldId id="312" r:id="rId5"/>
    <p:sldId id="334" r:id="rId6"/>
    <p:sldId id="330" r:id="rId7"/>
    <p:sldId id="326" r:id="rId8"/>
    <p:sldId id="336" r:id="rId9"/>
    <p:sldId id="337" r:id="rId10"/>
    <p:sldId id="338" r:id="rId11"/>
    <p:sldId id="341" r:id="rId12"/>
    <p:sldId id="342" r:id="rId13"/>
    <p:sldId id="325" r:id="rId14"/>
    <p:sldId id="328" r:id="rId15"/>
    <p:sldId id="343" r:id="rId16"/>
    <p:sldId id="331" r:id="rId17"/>
    <p:sldId id="329" r:id="rId18"/>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95388" autoAdjust="0"/>
  </p:normalViewPr>
  <p:slideViewPr>
    <p:cSldViewPr snapToGrid="0" snapToObjects="1">
      <p:cViewPr varScale="1">
        <p:scale>
          <a:sx n="60" d="100"/>
          <a:sy n="60" d="100"/>
        </p:scale>
        <p:origin x="1152" y="78"/>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2024</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96DFF08F-DC6B-4601-B491-B0F83F6DD2DA}" type="datetimeFigureOut">
              <a:rPr lang="en-US" smtClean="0"/>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533442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86398406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792653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smtClean="0"/>
              <a:t>9/22/2024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65436687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smtClean="0"/>
              <a:t>9/22/2024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06838156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smtClean="0"/>
              <a:t>9/22/2024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pPr/>
              <a:t>‹#›</a:t>
            </a:fld>
            <a:endParaRPr lang="en-US" dirty="0"/>
          </a:p>
        </p:txBody>
      </p:sp>
      <p:sp>
        <p:nvSpPr>
          <p:cNvPr id="6" name="Freeform: Shape 5">
            <a:extLst>
              <a:ext uri="{FF2B5EF4-FFF2-40B4-BE49-F238E27FC236}">
                <a16:creationId xmlns:a16="http://schemas.microsoft.com/office/drawing/2014/main" id="{9D2652B0-40EF-CD68-1745-027ECF1F149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D2B63412-4736-8D53-FA61-94E9D509518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741066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smtClean="0"/>
              <a:t>9/22/2024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a:t>
            </a:fld>
            <a:endParaRPr lang="en-US" dirty="0"/>
          </a:p>
        </p:txBody>
      </p:sp>
      <p:sp>
        <p:nvSpPr>
          <p:cNvPr id="5" name="Freeform: Shape 4">
            <a:extLst>
              <a:ext uri="{FF2B5EF4-FFF2-40B4-BE49-F238E27FC236}">
                <a16:creationId xmlns:a16="http://schemas.microsoft.com/office/drawing/2014/main" id="{CABA3C9D-A9C3-801E-7E16-7D67D5A9BD76}"/>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5">
            <a:extLst>
              <a:ext uri="{FF2B5EF4-FFF2-40B4-BE49-F238E27FC236}">
                <a16:creationId xmlns:a16="http://schemas.microsoft.com/office/drawing/2014/main" id="{F92FE0AE-AFB6-0408-D0ED-EF8076DAB965}"/>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99613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9/22/2024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
        <p:nvSpPr>
          <p:cNvPr id="2" name="Freeform: Shape 1">
            <a:extLst>
              <a:ext uri="{FF2B5EF4-FFF2-40B4-BE49-F238E27FC236}">
                <a16:creationId xmlns:a16="http://schemas.microsoft.com/office/drawing/2014/main" id="{85B1D99E-61FC-32BB-6D2B-9A899355128E}"/>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72938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9/22/2024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Freeform: Shape 8">
            <a:extLst>
              <a:ext uri="{FF2B5EF4-FFF2-40B4-BE49-F238E27FC236}">
                <a16:creationId xmlns:a16="http://schemas.microsoft.com/office/drawing/2014/main" id="{9B85137A-CD9E-E1F4-838C-9885DE26C5CE}"/>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936362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72810661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098247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9752852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767183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929974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5165562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7255050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9908213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76755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5366043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1910927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6DFF08F-DC6B-4601-B491-B0F83F6DD2DA}" type="datetimeFigureOut">
              <a:rPr lang="en-US" smtClean="0"/>
              <a:pPr/>
              <a:t>9/22/2024</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8F63A3B-78C7-47BE-AE5E-E10140E04643}"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0364711"/>
      </p:ext>
    </p:extLst>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653" r:id="rId21"/>
    <p:sldLayoutId id="2147483668" r:id="rId22"/>
    <p:sldLayoutId id="2147483687" r:id="rId23"/>
    <p:sldLayoutId id="2147483688" r:id="rId24"/>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89" y="1513389"/>
            <a:ext cx="6392421" cy="3831221"/>
          </a:xfrm>
        </p:spPr>
        <p:txBody>
          <a:bodyPr anchor="ctr"/>
          <a:lstStyle/>
          <a:p>
            <a:r>
              <a:rPr lang="en-IN" sz="4400" b="1" i="0" dirty="0">
                <a:effectLst/>
                <a:latin typeface="Sabon Next LT" panose="02000500000000000000" pitchFamily="2" charset="0"/>
                <a:cs typeface="Sabon Next LT" panose="02000500000000000000" pitchFamily="2" charset="0"/>
              </a:rPr>
              <a:t>Flipkart Reviews Sentiment Analysis</a:t>
            </a:r>
            <a:br>
              <a:rPr lang="en-IN" b="1" i="0" dirty="0">
                <a:effectLst/>
                <a:latin typeface="Sabon Next LT" panose="02000500000000000000" pitchFamily="2" charset="0"/>
                <a:cs typeface="Sabon Next LT" panose="02000500000000000000" pitchFamily="2" charset="0"/>
              </a:rPr>
            </a:br>
            <a:endParaRPr lang="en-US" dirty="0">
              <a:latin typeface="Sabon Next LT" panose="02000500000000000000" pitchFamily="2" charset="0"/>
              <a:cs typeface="Sabon Next LT" panose="02000500000000000000" pitchFamily="2" charset="0"/>
            </a:endParaRPr>
          </a:p>
        </p:txBody>
      </p:sp>
      <p:sp>
        <p:nvSpPr>
          <p:cNvPr id="3" name="TextBox 2">
            <a:extLst>
              <a:ext uri="{FF2B5EF4-FFF2-40B4-BE49-F238E27FC236}">
                <a16:creationId xmlns:a16="http://schemas.microsoft.com/office/drawing/2014/main" id="{15FCAA6B-EC66-9B57-C60C-C896C5A97919}"/>
              </a:ext>
            </a:extLst>
          </p:cNvPr>
          <p:cNvSpPr txBox="1"/>
          <p:nvPr/>
        </p:nvSpPr>
        <p:spPr>
          <a:xfrm>
            <a:off x="9292210" y="4652112"/>
            <a:ext cx="1973179" cy="1384995"/>
          </a:xfrm>
          <a:prstGeom prst="rect">
            <a:avLst/>
          </a:prstGeom>
          <a:noFill/>
        </p:spPr>
        <p:txBody>
          <a:bodyPr wrap="square" rtlCol="0">
            <a:spAutoFit/>
          </a:bodyPr>
          <a:lstStyle/>
          <a:p>
            <a:r>
              <a:rPr lang="en-IN" sz="2800" dirty="0">
                <a:solidFill>
                  <a:schemeClr val="bg1"/>
                </a:solidFill>
              </a:rPr>
              <a:t>DHILNA MD</a:t>
            </a:r>
          </a:p>
          <a:p>
            <a:r>
              <a:rPr lang="en-IN" sz="2800" dirty="0">
                <a:solidFill>
                  <a:schemeClr val="bg1"/>
                </a:solidFill>
              </a:rPr>
              <a:t>MCA II</a:t>
            </a:r>
          </a:p>
          <a:p>
            <a:r>
              <a:rPr lang="en-IN" sz="2800" dirty="0">
                <a:solidFill>
                  <a:schemeClr val="bg1"/>
                </a:solidFill>
              </a:rPr>
              <a:t>ROLLNO:17</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0DB1C2-FAAA-D9D6-9A3E-A9FB6D63E5B4}"/>
              </a:ext>
            </a:extLst>
          </p:cNvPr>
          <p:cNvSpPr txBox="1"/>
          <p:nvPr/>
        </p:nvSpPr>
        <p:spPr>
          <a:xfrm>
            <a:off x="962527" y="347044"/>
            <a:ext cx="6096000" cy="5448736"/>
          </a:xfrm>
          <a:prstGeom prst="rect">
            <a:avLst/>
          </a:prstGeom>
          <a:noFill/>
        </p:spPr>
        <p:txBody>
          <a:bodyPr wrap="square">
            <a:spAutoFit/>
          </a:bodyPr>
          <a:lstStyle/>
          <a:p>
            <a:pPr algn="l">
              <a:lnSpc>
                <a:spcPts val="4654"/>
              </a:lnSpc>
            </a:pPr>
            <a:r>
              <a:rPr lang="en-US" sz="2400" spc="-142" dirty="0">
                <a:solidFill>
                  <a:srgbClr val="7030A0"/>
                </a:solidFill>
                <a:latin typeface="Sabon Next LT" panose="02000500000000000000" pitchFamily="2" charset="0"/>
                <a:ea typeface="Playfair Display"/>
                <a:cs typeface="Sabon Next LT" panose="02000500000000000000" pitchFamily="2" charset="0"/>
                <a:sym typeface="Playfair Display"/>
              </a:rPr>
              <a:t> Introduction</a:t>
            </a:r>
          </a:p>
          <a:p>
            <a:pPr algn="l">
              <a:lnSpc>
                <a:spcPts val="4654"/>
              </a:lnSpc>
            </a:pPr>
            <a:r>
              <a:rPr lang="en-US" sz="2400" spc="-142" dirty="0">
                <a:solidFill>
                  <a:srgbClr val="7030A0"/>
                </a:solidFill>
                <a:latin typeface="Sabon Next LT" panose="02000500000000000000" pitchFamily="2" charset="0"/>
                <a:ea typeface="Playfair Display"/>
                <a:cs typeface="Sabon Next LT" panose="02000500000000000000" pitchFamily="2" charset="0"/>
                <a:sym typeface="Playfair Display"/>
              </a:rPr>
              <a:t>Dataset Overview</a:t>
            </a:r>
          </a:p>
          <a:p>
            <a:pPr algn="l">
              <a:lnSpc>
                <a:spcPts val="4654"/>
              </a:lnSpc>
            </a:pPr>
            <a:r>
              <a:rPr lang="en-US" sz="2400" spc="-142" dirty="0">
                <a:solidFill>
                  <a:srgbClr val="7030A0"/>
                </a:solidFill>
                <a:latin typeface="Sabon Next LT" panose="02000500000000000000" pitchFamily="2" charset="0"/>
                <a:ea typeface="Playfair Display"/>
                <a:cs typeface="Sabon Next LT" panose="02000500000000000000" pitchFamily="2" charset="0"/>
                <a:sym typeface="Playfair Display"/>
              </a:rPr>
              <a:t>Data Preparation</a:t>
            </a:r>
          </a:p>
          <a:p>
            <a:pPr algn="l">
              <a:lnSpc>
                <a:spcPts val="4654"/>
              </a:lnSpc>
            </a:pPr>
            <a:r>
              <a:rPr lang="en-US" sz="2400" spc="-142" dirty="0">
                <a:solidFill>
                  <a:srgbClr val="7030A0"/>
                </a:solidFill>
                <a:latin typeface="Sabon Next LT" panose="02000500000000000000" pitchFamily="2" charset="0"/>
                <a:ea typeface="Playfair Display"/>
                <a:cs typeface="Sabon Next LT" panose="02000500000000000000" pitchFamily="2" charset="0"/>
                <a:sym typeface="Playfair Display"/>
              </a:rPr>
              <a:t> Data Visualization</a:t>
            </a:r>
          </a:p>
          <a:p>
            <a:pPr algn="l">
              <a:lnSpc>
                <a:spcPts val="4654"/>
              </a:lnSpc>
            </a:pPr>
            <a:r>
              <a:rPr lang="en-US" sz="2400" spc="-142" dirty="0">
                <a:solidFill>
                  <a:srgbClr val="7030A0"/>
                </a:solidFill>
                <a:latin typeface="Sabon Next LT" panose="02000500000000000000" pitchFamily="2" charset="0"/>
                <a:ea typeface="Playfair Display"/>
                <a:cs typeface="Sabon Next LT" panose="02000500000000000000" pitchFamily="2" charset="0"/>
                <a:sym typeface="Playfair Display"/>
              </a:rPr>
              <a:t>Model Selection</a:t>
            </a:r>
          </a:p>
          <a:p>
            <a:pPr algn="l">
              <a:lnSpc>
                <a:spcPts val="4654"/>
              </a:lnSpc>
            </a:pPr>
            <a:r>
              <a:rPr lang="en-US" sz="2400" spc="-142" dirty="0">
                <a:solidFill>
                  <a:srgbClr val="7030A0"/>
                </a:solidFill>
                <a:latin typeface="Sabon Next LT" panose="02000500000000000000" pitchFamily="2" charset="0"/>
                <a:ea typeface="Playfair Display"/>
                <a:cs typeface="Sabon Next LT" panose="02000500000000000000" pitchFamily="2" charset="0"/>
                <a:sym typeface="Playfair Display"/>
              </a:rPr>
              <a:t>Model Evaluation</a:t>
            </a:r>
          </a:p>
          <a:p>
            <a:pPr algn="l">
              <a:lnSpc>
                <a:spcPts val="4654"/>
              </a:lnSpc>
            </a:pPr>
            <a:r>
              <a:rPr lang="en-US" sz="2400" spc="-142" dirty="0">
                <a:solidFill>
                  <a:srgbClr val="7030A0"/>
                </a:solidFill>
                <a:latin typeface="Sabon Next LT" panose="02000500000000000000" pitchFamily="2" charset="0"/>
                <a:ea typeface="Playfair Display"/>
                <a:cs typeface="Sabon Next LT" panose="02000500000000000000" pitchFamily="2" charset="0"/>
                <a:sym typeface="Playfair Display"/>
              </a:rPr>
              <a:t>Model Comparison</a:t>
            </a:r>
          </a:p>
          <a:p>
            <a:pPr algn="l">
              <a:lnSpc>
                <a:spcPts val="4654"/>
              </a:lnSpc>
            </a:pPr>
            <a:r>
              <a:rPr lang="en-US" sz="2400" spc="-142" dirty="0">
                <a:solidFill>
                  <a:srgbClr val="7030A0"/>
                </a:solidFill>
                <a:latin typeface="Sabon Next LT" panose="02000500000000000000" pitchFamily="2" charset="0"/>
                <a:ea typeface="Playfair Display"/>
                <a:cs typeface="Sabon Next LT" panose="02000500000000000000" pitchFamily="2" charset="0"/>
                <a:sym typeface="Playfair Display"/>
              </a:rPr>
              <a:t> Prediction Example</a:t>
            </a:r>
          </a:p>
          <a:p>
            <a:pPr algn="l">
              <a:lnSpc>
                <a:spcPts val="4654"/>
              </a:lnSpc>
            </a:pPr>
            <a:r>
              <a:rPr lang="en-US" sz="2400" spc="-142" dirty="0">
                <a:solidFill>
                  <a:srgbClr val="7030A0"/>
                </a:solidFill>
                <a:latin typeface="Sabon Next LT" panose="02000500000000000000" pitchFamily="2" charset="0"/>
                <a:ea typeface="Playfair Display"/>
                <a:cs typeface="Sabon Next LT" panose="02000500000000000000" pitchFamily="2" charset="0"/>
                <a:sym typeface="Playfair Display"/>
              </a:rPr>
              <a:t>Conclusion</a:t>
            </a:r>
            <a:endParaRPr lang="en-IN" sz="2400" dirty="0">
              <a:solidFill>
                <a:srgbClr val="7030A0"/>
              </a:solidFill>
              <a:latin typeface="Sabon Next LT" panose="02000500000000000000" pitchFamily="2" charset="0"/>
              <a:cs typeface="Sabon Next LT" panose="02000500000000000000" pitchFamily="2" charset="0"/>
            </a:endParaRPr>
          </a:p>
        </p:txBody>
      </p:sp>
    </p:spTree>
    <p:extLst>
      <p:ext uri="{BB962C8B-B14F-4D97-AF65-F5344CB8AC3E}">
        <p14:creationId xmlns:p14="http://schemas.microsoft.com/office/powerpoint/2010/main" val="3147094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49C422C-1209-18C7-034E-77904BC13CF6}"/>
              </a:ext>
            </a:extLst>
          </p:cNvPr>
          <p:cNvSpPr>
            <a:spLocks noGrp="1"/>
          </p:cNvSpPr>
          <p:nvPr>
            <p:ph type="sldNum" sz="quarter" idx="10"/>
          </p:nvPr>
        </p:nvSpPr>
        <p:spPr/>
        <p:txBody>
          <a:bodyPr/>
          <a:lstStyle/>
          <a:p>
            <a:fld id="{48F63A3B-78C7-47BE-AE5E-E10140E04643}" type="slidenum">
              <a:rPr lang="en-US" smtClean="0"/>
              <a:pPr/>
              <a:t>3</a:t>
            </a:fld>
            <a:endParaRPr lang="en-US" dirty="0"/>
          </a:p>
        </p:txBody>
      </p:sp>
      <p:sp>
        <p:nvSpPr>
          <p:cNvPr id="6" name="TextBox 5">
            <a:extLst>
              <a:ext uri="{FF2B5EF4-FFF2-40B4-BE49-F238E27FC236}">
                <a16:creationId xmlns:a16="http://schemas.microsoft.com/office/drawing/2014/main" id="{B8054250-1129-01CE-DC9E-02B47D77E2AE}"/>
              </a:ext>
            </a:extLst>
          </p:cNvPr>
          <p:cNvSpPr txBox="1"/>
          <p:nvPr/>
        </p:nvSpPr>
        <p:spPr>
          <a:xfrm>
            <a:off x="923473" y="686356"/>
            <a:ext cx="6828020" cy="5308633"/>
          </a:xfrm>
          <a:prstGeom prst="rect">
            <a:avLst/>
          </a:prstGeom>
          <a:noFill/>
        </p:spPr>
        <p:txBody>
          <a:bodyPr wrap="square">
            <a:spAutoFit/>
          </a:bodyPr>
          <a:lstStyle/>
          <a:p>
            <a:pPr>
              <a:lnSpc>
                <a:spcPct val="150000"/>
              </a:lnSpc>
            </a:pPr>
            <a:r>
              <a:rPr lang="en-US" sz="2800" b="1" dirty="0">
                <a:solidFill>
                  <a:schemeClr val="accent3"/>
                </a:solidFill>
                <a:latin typeface="Sabon Next LT" panose="02000500000000000000" pitchFamily="2" charset="0"/>
                <a:cs typeface="Sabon Next LT" panose="02000500000000000000" pitchFamily="2" charset="0"/>
              </a:rPr>
              <a:t>Flipkart Review Analysis</a:t>
            </a:r>
          </a:p>
          <a:p>
            <a:pPr>
              <a:lnSpc>
                <a:spcPct val="150000"/>
              </a:lnSpc>
            </a:pPr>
            <a:r>
              <a:rPr lang="en-US" sz="2000" dirty="0">
                <a:latin typeface="Sabon Next LT" panose="02000500000000000000" pitchFamily="2" charset="0"/>
                <a:cs typeface="Sabon Next LT" panose="02000500000000000000" pitchFamily="2" charset="0"/>
              </a:rPr>
              <a:t>It involves analyzing customer reviews from Flipkart to understand customer opinions and sentiment about a product. This process helps companies make data-driven decisions to improve products, understand customer satisfaction, and develop better marketing strategies. This simple analysis helps identify customer sentiments and highlights areas where a product might need improvement. It can be scaled to analyze thousands of reviews, offering valuable insights into product performance and customer satisfaction.</a:t>
            </a:r>
          </a:p>
        </p:txBody>
      </p:sp>
    </p:spTree>
    <p:extLst>
      <p:ext uri="{BB962C8B-B14F-4D97-AF65-F5344CB8AC3E}">
        <p14:creationId xmlns:p14="http://schemas.microsoft.com/office/powerpoint/2010/main" val="3286955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458ABF0-C592-BC5B-EB87-C40D5C521CC6}"/>
              </a:ext>
            </a:extLst>
          </p:cNvPr>
          <p:cNvSpPr>
            <a:spLocks noGrp="1"/>
          </p:cNvSpPr>
          <p:nvPr>
            <p:ph type="sldNum" sz="quarter" idx="10"/>
          </p:nvPr>
        </p:nvSpPr>
        <p:spPr/>
        <p:txBody>
          <a:bodyPr/>
          <a:lstStyle/>
          <a:p>
            <a:fld id="{48F63A3B-78C7-47BE-AE5E-E10140E04643}" type="slidenum">
              <a:rPr lang="en-US" smtClean="0"/>
              <a:pPr/>
              <a:t>4</a:t>
            </a:fld>
            <a:endParaRPr lang="en-US" dirty="0"/>
          </a:p>
        </p:txBody>
      </p:sp>
      <p:sp>
        <p:nvSpPr>
          <p:cNvPr id="7" name="TextBox 6">
            <a:extLst>
              <a:ext uri="{FF2B5EF4-FFF2-40B4-BE49-F238E27FC236}">
                <a16:creationId xmlns:a16="http://schemas.microsoft.com/office/drawing/2014/main" id="{63BF9E78-27A6-7151-E95C-ED27B6D5B879}"/>
              </a:ext>
            </a:extLst>
          </p:cNvPr>
          <p:cNvSpPr txBox="1"/>
          <p:nvPr/>
        </p:nvSpPr>
        <p:spPr>
          <a:xfrm>
            <a:off x="1607695" y="414781"/>
            <a:ext cx="6093500" cy="584775"/>
          </a:xfrm>
          <a:prstGeom prst="rect">
            <a:avLst/>
          </a:prstGeom>
          <a:noFill/>
        </p:spPr>
        <p:txBody>
          <a:bodyPr wrap="square">
            <a:spAutoFit/>
          </a:bodyPr>
          <a:lstStyle/>
          <a:p>
            <a:r>
              <a:rPr lang="en-IN" sz="3200" b="1" i="0" dirty="0">
                <a:solidFill>
                  <a:schemeClr val="bg2">
                    <a:lumMod val="50000"/>
                  </a:schemeClr>
                </a:solidFill>
                <a:effectLst/>
              </a:rPr>
              <a:t>Sentiment analysis</a:t>
            </a:r>
            <a:endParaRPr lang="en-IN" sz="3200" b="1" dirty="0">
              <a:solidFill>
                <a:schemeClr val="bg2">
                  <a:lumMod val="50000"/>
                </a:schemeClr>
              </a:solidFill>
            </a:endParaRPr>
          </a:p>
        </p:txBody>
      </p:sp>
      <p:sp>
        <p:nvSpPr>
          <p:cNvPr id="9" name="TextBox 8">
            <a:extLst>
              <a:ext uri="{FF2B5EF4-FFF2-40B4-BE49-F238E27FC236}">
                <a16:creationId xmlns:a16="http://schemas.microsoft.com/office/drawing/2014/main" id="{7276A361-C276-F0E1-15BF-EA1DC2550D7F}"/>
              </a:ext>
            </a:extLst>
          </p:cNvPr>
          <p:cNvSpPr txBox="1"/>
          <p:nvPr/>
        </p:nvSpPr>
        <p:spPr>
          <a:xfrm>
            <a:off x="1607695" y="971839"/>
            <a:ext cx="9327630" cy="4662302"/>
          </a:xfrm>
          <a:prstGeom prst="rect">
            <a:avLst/>
          </a:prstGeom>
          <a:noFill/>
        </p:spPr>
        <p:txBody>
          <a:bodyPr wrap="square">
            <a:spAutoFit/>
          </a:bodyPr>
          <a:lstStyle/>
          <a:p>
            <a:pPr>
              <a:lnSpc>
                <a:spcPct val="150000"/>
              </a:lnSpc>
            </a:pPr>
            <a:r>
              <a:rPr lang="en-US" sz="2000" b="0" i="0" dirty="0">
                <a:effectLst/>
                <a:latin typeface="Sabon Next LT" panose="02000500000000000000" pitchFamily="2" charset="0"/>
                <a:cs typeface="Sabon Next LT" panose="02000500000000000000" pitchFamily="2" charset="0"/>
              </a:rPr>
              <a:t>Sentiment analysis means extracting, identifying, or classifying sentiment from text using natural language processing. It is also known as opinion mining.</a:t>
            </a:r>
            <a:r>
              <a:rPr lang="en-US" sz="2000" dirty="0">
                <a:latin typeface="Sabon Next LT" panose="02000500000000000000" pitchFamily="2" charset="0"/>
                <a:cs typeface="Sabon Next LT" panose="02000500000000000000" pitchFamily="2" charset="0"/>
              </a:rPr>
              <a:t> It is a process of determining the sentiment or emotional tone behind a piece of text. It aims to classify text into predefined sentiment categories, such as </a:t>
            </a:r>
            <a:r>
              <a:rPr lang="en-US" sz="2000" b="1" dirty="0">
                <a:latin typeface="Sabon Next LT" panose="02000500000000000000" pitchFamily="2" charset="0"/>
                <a:cs typeface="Sabon Next LT" panose="02000500000000000000" pitchFamily="2" charset="0"/>
              </a:rPr>
              <a:t>positive</a:t>
            </a:r>
            <a:r>
              <a:rPr lang="en-US" sz="2000" dirty="0">
                <a:latin typeface="Sabon Next LT" panose="02000500000000000000" pitchFamily="2" charset="0"/>
                <a:cs typeface="Sabon Next LT" panose="02000500000000000000" pitchFamily="2" charset="0"/>
              </a:rPr>
              <a:t>, </a:t>
            </a:r>
            <a:r>
              <a:rPr lang="en-US" sz="2000" b="1" dirty="0">
                <a:latin typeface="Sabon Next LT" panose="02000500000000000000" pitchFamily="2" charset="0"/>
                <a:cs typeface="Sabon Next LT" panose="02000500000000000000" pitchFamily="2" charset="0"/>
              </a:rPr>
              <a:t>negative</a:t>
            </a:r>
            <a:r>
              <a:rPr lang="en-US" sz="2000" dirty="0">
                <a:latin typeface="Sabon Next LT" panose="02000500000000000000" pitchFamily="2" charset="0"/>
                <a:cs typeface="Sabon Next LT" panose="02000500000000000000" pitchFamily="2" charset="0"/>
              </a:rPr>
              <a:t>, or </a:t>
            </a:r>
            <a:r>
              <a:rPr lang="en-US" sz="2000" b="1" dirty="0">
                <a:latin typeface="Sabon Next LT" panose="02000500000000000000" pitchFamily="2" charset="0"/>
                <a:cs typeface="Sabon Next LT" panose="02000500000000000000" pitchFamily="2" charset="0"/>
              </a:rPr>
              <a:t>neutral</a:t>
            </a:r>
            <a:r>
              <a:rPr lang="en-US" sz="2000" dirty="0">
                <a:latin typeface="Sabon Next LT" panose="02000500000000000000" pitchFamily="2" charset="0"/>
                <a:cs typeface="Sabon Next LT" panose="02000500000000000000" pitchFamily="2" charset="0"/>
              </a:rPr>
              <a:t>.</a:t>
            </a:r>
          </a:p>
          <a:p>
            <a:pPr>
              <a:lnSpc>
                <a:spcPct val="150000"/>
              </a:lnSpc>
            </a:pPr>
            <a:r>
              <a:rPr lang="en-US" sz="2000" dirty="0">
                <a:latin typeface="Sabon Next LT" panose="02000500000000000000" pitchFamily="2" charset="0"/>
                <a:cs typeface="Sabon Next LT" panose="02000500000000000000" pitchFamily="2" charset="0"/>
              </a:rPr>
              <a:t>Sentiment analysis uses natural language processing (NLP), text analysis, and computational linguistics to identify subjective information in the text. It helps organizations understand the emotional response or opinion expressed in customer feedback, social media posts, or reviews.</a:t>
            </a:r>
            <a:endParaRPr lang="en-US" sz="2000" b="0" i="0" dirty="0">
              <a:effectLst/>
              <a:latin typeface="Sabon Next LT" panose="02000500000000000000" pitchFamily="2" charset="0"/>
              <a:cs typeface="Sabon Next LT" panose="02000500000000000000" pitchFamily="2" charset="0"/>
            </a:endParaRPr>
          </a:p>
          <a:p>
            <a:pPr>
              <a:lnSpc>
                <a:spcPct val="150000"/>
              </a:lnSpc>
            </a:pPr>
            <a:endParaRPr lang="en-IN" sz="2000" dirty="0">
              <a:latin typeface="Sabon Next LT" panose="02000500000000000000" pitchFamily="2" charset="0"/>
              <a:cs typeface="Sabon Next LT" panose="02000500000000000000" pitchFamily="2" charset="0"/>
            </a:endParaRPr>
          </a:p>
        </p:txBody>
      </p:sp>
    </p:spTree>
    <p:extLst>
      <p:ext uri="{BB962C8B-B14F-4D97-AF65-F5344CB8AC3E}">
        <p14:creationId xmlns:p14="http://schemas.microsoft.com/office/powerpoint/2010/main" val="2463281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1226B0-95F4-8836-D429-EDB1B4061E77}"/>
              </a:ext>
            </a:extLst>
          </p:cNvPr>
          <p:cNvSpPr>
            <a:spLocks noGrp="1"/>
          </p:cNvSpPr>
          <p:nvPr>
            <p:ph type="sldNum" sz="quarter" idx="12"/>
          </p:nvPr>
        </p:nvSpPr>
        <p:spPr/>
        <p:txBody>
          <a:bodyPr/>
          <a:lstStyle/>
          <a:p>
            <a:fld id="{48F63A3B-78C7-47BE-AE5E-E10140E04643}" type="slidenum">
              <a:rPr lang="en-US" smtClean="0"/>
              <a:pPr/>
              <a:t>5</a:t>
            </a:fld>
            <a:endParaRPr lang="en-US" dirty="0"/>
          </a:p>
        </p:txBody>
      </p:sp>
      <p:sp>
        <p:nvSpPr>
          <p:cNvPr id="4" name="TextBox 3">
            <a:extLst>
              <a:ext uri="{FF2B5EF4-FFF2-40B4-BE49-F238E27FC236}">
                <a16:creationId xmlns:a16="http://schemas.microsoft.com/office/drawing/2014/main" id="{8CA75993-1744-4984-4670-4701D2349507}"/>
              </a:ext>
            </a:extLst>
          </p:cNvPr>
          <p:cNvSpPr txBox="1"/>
          <p:nvPr/>
        </p:nvSpPr>
        <p:spPr>
          <a:xfrm>
            <a:off x="495281" y="405084"/>
            <a:ext cx="11201438" cy="3354765"/>
          </a:xfrm>
          <a:prstGeom prst="rect">
            <a:avLst/>
          </a:prstGeom>
          <a:noFill/>
        </p:spPr>
        <p:txBody>
          <a:bodyPr wrap="square">
            <a:spAutoFit/>
          </a:bodyPr>
          <a:lstStyle/>
          <a:p>
            <a:pPr algn="l"/>
            <a:r>
              <a:rPr lang="en-US" sz="2800" b="1" dirty="0">
                <a:solidFill>
                  <a:schemeClr val="tx2"/>
                </a:solidFill>
                <a:latin typeface="Sabon Next LT" panose="02000500000000000000" pitchFamily="2" charset="0"/>
                <a:ea typeface="Canva Sans Bold"/>
                <a:cs typeface="Sabon Next LT" panose="02000500000000000000" pitchFamily="2" charset="0"/>
                <a:sym typeface="Canva Sans Bold"/>
              </a:rPr>
              <a:t>Problem Statement:</a:t>
            </a:r>
          </a:p>
          <a:p>
            <a:pPr algn="l"/>
            <a:endParaRPr lang="en-US" sz="2400" b="1" u="sng" dirty="0">
              <a:solidFill>
                <a:schemeClr val="accent6">
                  <a:lumMod val="60000"/>
                  <a:lumOff val="40000"/>
                </a:schemeClr>
              </a:solidFill>
              <a:latin typeface="Sabon Next LT" panose="02000500000000000000" pitchFamily="2" charset="0"/>
              <a:ea typeface="Canva Sans Bold"/>
              <a:cs typeface="Sabon Next LT" panose="02000500000000000000" pitchFamily="2" charset="0"/>
              <a:sym typeface="Canva Sans Bold"/>
            </a:endParaRPr>
          </a:p>
          <a:p>
            <a:pPr algn="l">
              <a:lnSpc>
                <a:spcPct val="150000"/>
              </a:lnSpc>
            </a:pPr>
            <a:r>
              <a:rPr lang="en-US" sz="2400" b="1" u="sng" dirty="0">
                <a:solidFill>
                  <a:schemeClr val="accent1"/>
                </a:solidFill>
                <a:latin typeface="Sabon Next LT" panose="02000500000000000000" pitchFamily="2" charset="0"/>
                <a:ea typeface="Canva Sans Bold"/>
                <a:cs typeface="Sabon Next LT" panose="02000500000000000000" pitchFamily="2" charset="0"/>
                <a:sym typeface="Canva Sans Bold"/>
              </a:rPr>
              <a:t>Problem: </a:t>
            </a:r>
          </a:p>
          <a:p>
            <a:pPr algn="l"/>
            <a:r>
              <a:rPr lang="en-US" sz="2000" dirty="0">
                <a:latin typeface="Sabon Next LT" panose="02000500000000000000" pitchFamily="2" charset="0"/>
                <a:cs typeface="Sabon Next LT" panose="02000500000000000000" pitchFamily="2" charset="0"/>
              </a:rPr>
              <a:t>To analyze and understand customer feedback on Flipkart products by applying sentiment analysis techniques. The goal is to classify customer reviews into positive, negative, or neutral categories, and extract meaningful insights that can help businesses improve product offerings, customer service, and overall user satisfaction.</a:t>
            </a:r>
          </a:p>
          <a:p>
            <a:pPr algn="l"/>
            <a:endParaRPr lang="en-US" sz="2000" dirty="0">
              <a:solidFill>
                <a:schemeClr val="accent6">
                  <a:lumMod val="60000"/>
                  <a:lumOff val="40000"/>
                </a:schemeClr>
              </a:solidFill>
              <a:latin typeface="Sabon Next LT" panose="02000500000000000000" pitchFamily="2" charset="0"/>
              <a:cs typeface="Sabon Next LT" panose="02000500000000000000" pitchFamily="2" charset="0"/>
            </a:endParaRPr>
          </a:p>
          <a:p>
            <a:pPr algn="l"/>
            <a:r>
              <a:rPr lang="en-US" sz="2400" b="1" u="sng" dirty="0">
                <a:solidFill>
                  <a:schemeClr val="accent1"/>
                </a:solidFill>
                <a:latin typeface="Sabon Next LT" panose="02000500000000000000" pitchFamily="2" charset="0"/>
                <a:cs typeface="Sabon Next LT" panose="02000500000000000000" pitchFamily="2" charset="0"/>
              </a:rPr>
              <a:t>Goal:</a:t>
            </a:r>
            <a:endParaRPr lang="en-IN" sz="2000" b="1" u="sng" dirty="0">
              <a:solidFill>
                <a:schemeClr val="accent1"/>
              </a:solidFill>
              <a:latin typeface="Sabon Next LT" panose="02000500000000000000" pitchFamily="2" charset="0"/>
              <a:cs typeface="Sabon Next LT" panose="02000500000000000000" pitchFamily="2" charset="0"/>
            </a:endParaRPr>
          </a:p>
        </p:txBody>
      </p:sp>
      <p:sp>
        <p:nvSpPr>
          <p:cNvPr id="7" name="TextBox 6">
            <a:extLst>
              <a:ext uri="{FF2B5EF4-FFF2-40B4-BE49-F238E27FC236}">
                <a16:creationId xmlns:a16="http://schemas.microsoft.com/office/drawing/2014/main" id="{9050B9F9-949F-51AE-BF7B-81CCD44F2013}"/>
              </a:ext>
            </a:extLst>
          </p:cNvPr>
          <p:cNvSpPr txBox="1"/>
          <p:nvPr/>
        </p:nvSpPr>
        <p:spPr>
          <a:xfrm>
            <a:off x="495281" y="3698293"/>
            <a:ext cx="10930746" cy="193899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Sabon Next LT" panose="02000500000000000000" pitchFamily="2" charset="0"/>
                <a:cs typeface="Sabon Next LT" panose="02000500000000000000" pitchFamily="2" charset="0"/>
              </a:rPr>
              <a:t>The goal of conducting </a:t>
            </a:r>
            <a:r>
              <a:rPr kumimoji="0" lang="en-US" altLang="en-US" sz="2000" b="1" i="0" u="none" strike="noStrike" cap="none" normalizeH="0" baseline="0" dirty="0">
                <a:ln>
                  <a:noFill/>
                </a:ln>
                <a:solidFill>
                  <a:schemeClr val="tx1"/>
                </a:solidFill>
                <a:effectLst/>
                <a:latin typeface="Sabon Next LT" panose="02000500000000000000" pitchFamily="2" charset="0"/>
                <a:cs typeface="Sabon Next LT" panose="02000500000000000000" pitchFamily="2" charset="0"/>
              </a:rPr>
              <a:t>Flipkart reviews sentiment analysis</a:t>
            </a:r>
            <a:r>
              <a:rPr kumimoji="0" lang="en-US" altLang="en-US" sz="2000" b="0" i="0" u="none" strike="noStrike" cap="none" normalizeH="0" baseline="0" dirty="0">
                <a:ln>
                  <a:noFill/>
                </a:ln>
                <a:solidFill>
                  <a:schemeClr val="tx1"/>
                </a:solidFill>
                <a:effectLst/>
                <a:latin typeface="Sabon Next LT" panose="02000500000000000000" pitchFamily="2" charset="0"/>
                <a:cs typeface="Sabon Next LT" panose="02000500000000000000" pitchFamily="2" charset="0"/>
              </a:rPr>
              <a:t> is to gain deeper insights into customer opinions and satisfaction levels regarding various products sold on the platform. By analyzing the sentiments expressed in customer reviews—whether positive, negative, or neutral—businesses can identify trends, improve product quality, enhance customer service, and make data-driven decisions. This analysis helps understand consumer preferences, address pain points, and ultimately foster better customer experiences and brand loyalty.</a:t>
            </a:r>
          </a:p>
        </p:txBody>
      </p:sp>
    </p:spTree>
    <p:extLst>
      <p:ext uri="{BB962C8B-B14F-4D97-AF65-F5344CB8AC3E}">
        <p14:creationId xmlns:p14="http://schemas.microsoft.com/office/powerpoint/2010/main" val="1647048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4BF615-4115-0E30-7BB5-537DA2D02405}"/>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
        <p:nvSpPr>
          <p:cNvPr id="6" name="TextBox 5">
            <a:extLst>
              <a:ext uri="{FF2B5EF4-FFF2-40B4-BE49-F238E27FC236}">
                <a16:creationId xmlns:a16="http://schemas.microsoft.com/office/drawing/2014/main" id="{7EF41F45-B152-7B7A-33E6-C85B0300E50A}"/>
              </a:ext>
            </a:extLst>
          </p:cNvPr>
          <p:cNvSpPr txBox="1"/>
          <p:nvPr/>
        </p:nvSpPr>
        <p:spPr>
          <a:xfrm>
            <a:off x="553452" y="735955"/>
            <a:ext cx="11085095" cy="5386090"/>
          </a:xfrm>
          <a:prstGeom prst="rect">
            <a:avLst/>
          </a:prstGeom>
          <a:noFill/>
        </p:spPr>
        <p:txBody>
          <a:bodyPr wrap="square">
            <a:spAutoFit/>
          </a:bodyPr>
          <a:lstStyle/>
          <a:p>
            <a:r>
              <a:rPr lang="en-IN" sz="2400" b="1" dirty="0">
                <a:solidFill>
                  <a:schemeClr val="accent2">
                    <a:lumMod val="75000"/>
                  </a:schemeClr>
                </a:solidFill>
                <a:latin typeface="Sabon Next LT" panose="02000500000000000000" pitchFamily="2" charset="0"/>
                <a:cs typeface="Sabon Next LT" panose="02000500000000000000" pitchFamily="2" charset="0"/>
              </a:rPr>
              <a:t>DATASET OVERVIEW</a:t>
            </a:r>
          </a:p>
          <a:p>
            <a:r>
              <a:rPr lang="en-IN" sz="2000" dirty="0">
                <a:latin typeface="Sabon Next LT" panose="02000500000000000000" pitchFamily="2" charset="0"/>
                <a:cs typeface="Sabon Next LT" panose="02000500000000000000" pitchFamily="2" charset="0"/>
              </a:rPr>
              <a:t>There are mainly 3 columns and 2304 rows in the dataset.</a:t>
            </a:r>
          </a:p>
          <a:p>
            <a:r>
              <a:rPr lang="en-US" sz="2000" dirty="0">
                <a:latin typeface="Sabon Next LT" panose="02000500000000000000" pitchFamily="2" charset="0"/>
                <a:cs typeface="Sabon Next LT" panose="02000500000000000000" pitchFamily="2" charset="0"/>
              </a:rPr>
              <a:t>In Flipkart review sentiment analysis, the columns typically represent the following:</a:t>
            </a:r>
          </a:p>
          <a:p>
            <a:pPr marL="285750" indent="-285750">
              <a:buFont typeface="Arial" panose="020B0604020202020204" pitchFamily="34" charset="0"/>
              <a:buChar char="•"/>
            </a:pPr>
            <a:endParaRPr lang="en-US" sz="2000" dirty="0">
              <a:latin typeface="Sabon Next LT" panose="02000500000000000000" pitchFamily="2" charset="0"/>
              <a:cs typeface="Sabon Next LT" panose="02000500000000000000" pitchFamily="2" charset="0"/>
            </a:endParaRPr>
          </a:p>
          <a:p>
            <a:r>
              <a:rPr lang="en-US" sz="2000" dirty="0">
                <a:latin typeface="Sabon Next LT" panose="02000500000000000000" pitchFamily="2" charset="0"/>
                <a:cs typeface="Sabon Next LT" panose="02000500000000000000" pitchFamily="2" charset="0"/>
              </a:rPr>
              <a:t>1. Product name </a:t>
            </a:r>
          </a:p>
          <a:p>
            <a:pPr marL="285750" indent="-285750">
              <a:buFont typeface="Arial" panose="020B0604020202020204" pitchFamily="34" charset="0"/>
              <a:buChar char="•"/>
            </a:pPr>
            <a:r>
              <a:rPr lang="en-US" sz="2000" dirty="0">
                <a:latin typeface="Sabon Next LT" panose="02000500000000000000" pitchFamily="2" charset="0"/>
                <a:cs typeface="Sabon Next LT" panose="02000500000000000000" pitchFamily="2" charset="0"/>
              </a:rPr>
              <a:t> This column contains the name or title of the product that is being reviewed. It helps in identifying which product a particular review is associated with.</a:t>
            </a:r>
          </a:p>
          <a:p>
            <a:r>
              <a:rPr lang="en-US" sz="2000" dirty="0">
                <a:latin typeface="Sabon Next LT" panose="02000500000000000000" pitchFamily="2" charset="0"/>
                <a:cs typeface="Sabon Next LT" panose="02000500000000000000" pitchFamily="2" charset="0"/>
              </a:rPr>
              <a:t>2. Review</a:t>
            </a:r>
          </a:p>
          <a:p>
            <a:pPr marL="285750" indent="-285750">
              <a:buFont typeface="Arial" panose="020B0604020202020204" pitchFamily="34" charset="0"/>
              <a:buChar char="•"/>
            </a:pPr>
            <a:r>
              <a:rPr lang="en-US" sz="2000" dirty="0">
                <a:latin typeface="Sabon Next LT" panose="02000500000000000000" pitchFamily="2" charset="0"/>
                <a:cs typeface="Sabon Next LT" panose="02000500000000000000" pitchFamily="2" charset="0"/>
              </a:rPr>
              <a:t> This column holds the text of the customer review It includes the feedback, opinions, or experiences shared by customers about the product. This is the primary data used for sentiment analysis to determine if the feedback is positive, negative, or neutral.</a:t>
            </a:r>
          </a:p>
          <a:p>
            <a:r>
              <a:rPr lang="en-US" sz="2000" dirty="0">
                <a:latin typeface="Sabon Next LT" panose="02000500000000000000" pitchFamily="2" charset="0"/>
                <a:cs typeface="Sabon Next LT" panose="02000500000000000000" pitchFamily="2" charset="0"/>
              </a:rPr>
              <a:t>3. Rating</a:t>
            </a:r>
          </a:p>
          <a:p>
            <a:pPr marL="285750" indent="-285750">
              <a:buFont typeface="Arial" panose="020B0604020202020204" pitchFamily="34" charset="0"/>
              <a:buChar char="•"/>
            </a:pPr>
            <a:r>
              <a:rPr lang="en-US" sz="2000" dirty="0">
                <a:latin typeface="Sabon Next LT" panose="02000500000000000000" pitchFamily="2" charset="0"/>
                <a:cs typeface="Sabon Next LT" panose="02000500000000000000" pitchFamily="2" charset="0"/>
              </a:rPr>
              <a:t>The rating column contains the numerical score(often on a scale from 1 to 5) that the customer has given to the product. Ratings typically reflect the overall satisfaction level, with 5 being the highest (positive) and 1 being the lowest (negative).</a:t>
            </a:r>
          </a:p>
          <a:p>
            <a:pPr marL="285750" indent="-285750">
              <a:buFont typeface="Arial" panose="020B0604020202020204" pitchFamily="34" charset="0"/>
              <a:buChar char="•"/>
            </a:pPr>
            <a:r>
              <a:rPr lang="en-US" sz="2000" dirty="0">
                <a:latin typeface="Sabon Next LT" panose="02000500000000000000" pitchFamily="2" charset="0"/>
                <a:cs typeface="Sabon Next LT" panose="02000500000000000000" pitchFamily="2" charset="0"/>
              </a:rPr>
              <a:t>In the sentiment analysis process, the Review column is analyzed for textual sentiment, while the Rating provides a quantitative measure of customer satisfaction.</a:t>
            </a:r>
            <a:endParaRPr lang="en-IN" sz="2000" dirty="0">
              <a:latin typeface="Sabon Next LT" panose="02000500000000000000" pitchFamily="2" charset="0"/>
              <a:cs typeface="Sabon Next LT" panose="02000500000000000000" pitchFamily="2" charset="0"/>
            </a:endParaRPr>
          </a:p>
        </p:txBody>
      </p:sp>
    </p:spTree>
    <p:extLst>
      <p:ext uri="{BB962C8B-B14F-4D97-AF65-F5344CB8AC3E}">
        <p14:creationId xmlns:p14="http://schemas.microsoft.com/office/powerpoint/2010/main" val="2924618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34A5527-D309-C7DC-693D-BBCDAB988320}"/>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
        <p:nvSpPr>
          <p:cNvPr id="7" name="TextBox 6">
            <a:extLst>
              <a:ext uri="{FF2B5EF4-FFF2-40B4-BE49-F238E27FC236}">
                <a16:creationId xmlns:a16="http://schemas.microsoft.com/office/drawing/2014/main" id="{8BC17AA7-D43A-44E0-00FA-65684AB9ADE9}"/>
              </a:ext>
            </a:extLst>
          </p:cNvPr>
          <p:cNvSpPr txBox="1"/>
          <p:nvPr/>
        </p:nvSpPr>
        <p:spPr>
          <a:xfrm>
            <a:off x="1279321" y="610136"/>
            <a:ext cx="10912679" cy="6340197"/>
          </a:xfrm>
          <a:prstGeom prst="rect">
            <a:avLst/>
          </a:prstGeom>
          <a:noFill/>
        </p:spPr>
        <p:txBody>
          <a:bodyPr wrap="square">
            <a:spAutoFit/>
          </a:bodyPr>
          <a:lstStyle/>
          <a:p>
            <a:pPr>
              <a:lnSpc>
                <a:spcPct val="150000"/>
              </a:lnSpc>
            </a:pPr>
            <a:r>
              <a:rPr lang="en-US" sz="2400" b="1" dirty="0">
                <a:solidFill>
                  <a:schemeClr val="bg2">
                    <a:lumMod val="50000"/>
                  </a:schemeClr>
                </a:solidFill>
                <a:latin typeface="Sabon Next LT" panose="02000500000000000000" pitchFamily="2" charset="0"/>
                <a:cs typeface="Sabon Next LT" panose="02000500000000000000" pitchFamily="2" charset="0"/>
              </a:rPr>
              <a:t>DATA PREPARATION</a:t>
            </a:r>
          </a:p>
          <a:p>
            <a:pPr>
              <a:lnSpc>
                <a:spcPct val="150000"/>
              </a:lnSpc>
            </a:pPr>
            <a:r>
              <a:rPr lang="en-US" sz="2000" b="1" dirty="0">
                <a:solidFill>
                  <a:schemeClr val="tx2">
                    <a:lumMod val="60000"/>
                    <a:lumOff val="40000"/>
                  </a:schemeClr>
                </a:solidFill>
                <a:latin typeface="Sabon Next LT" panose="02000500000000000000" pitchFamily="2" charset="0"/>
                <a:cs typeface="Sabon Next LT" panose="02000500000000000000" pitchFamily="2" charset="0"/>
              </a:rPr>
              <a:t>1.Data Cleaning</a:t>
            </a:r>
            <a:r>
              <a:rPr lang="en-US" sz="2000" dirty="0">
                <a:solidFill>
                  <a:schemeClr val="tx2">
                    <a:lumMod val="60000"/>
                    <a:lumOff val="40000"/>
                  </a:schemeClr>
                </a:solidFill>
                <a:latin typeface="Sabon Next LT" panose="02000500000000000000" pitchFamily="2" charset="0"/>
                <a:cs typeface="Sabon Next LT" panose="02000500000000000000" pitchFamily="2" charset="0"/>
              </a:rPr>
              <a:t>:</a:t>
            </a:r>
          </a:p>
          <a:p>
            <a:pPr>
              <a:buFont typeface="Arial" panose="020B0604020202020204" pitchFamily="34" charset="0"/>
              <a:buChar char="•"/>
            </a:pPr>
            <a:r>
              <a:rPr lang="en-US" sz="2000" b="1" dirty="0">
                <a:latin typeface="Sabon Next LT" panose="02000500000000000000" pitchFamily="2" charset="0"/>
                <a:cs typeface="Sabon Next LT" panose="02000500000000000000" pitchFamily="2" charset="0"/>
              </a:rPr>
              <a:t>Removing Null or Missing Values: </a:t>
            </a:r>
            <a:r>
              <a:rPr lang="en-US" sz="2000" dirty="0">
                <a:latin typeface="Sabon Next LT" panose="02000500000000000000" pitchFamily="2" charset="0"/>
                <a:cs typeface="Sabon Next LT" panose="02000500000000000000" pitchFamily="2" charset="0"/>
              </a:rPr>
              <a:t>Identify and remove reviews or ratings that are missing or incomplete.</a:t>
            </a:r>
          </a:p>
          <a:p>
            <a:pPr>
              <a:buFont typeface="Arial" panose="020B0604020202020204" pitchFamily="34" charset="0"/>
              <a:buChar char="•"/>
            </a:pPr>
            <a:r>
              <a:rPr lang="en-US" sz="2000" b="1" dirty="0">
                <a:latin typeface="Sabon Next LT" panose="02000500000000000000" pitchFamily="2" charset="0"/>
                <a:cs typeface="Sabon Next LT" panose="02000500000000000000" pitchFamily="2" charset="0"/>
              </a:rPr>
              <a:t>Lowercasing</a:t>
            </a:r>
            <a:r>
              <a:rPr lang="en-US" sz="2000" dirty="0">
                <a:latin typeface="Sabon Next LT" panose="02000500000000000000" pitchFamily="2" charset="0"/>
                <a:cs typeface="Sabon Next LT" panose="02000500000000000000" pitchFamily="2" charset="0"/>
              </a:rPr>
              <a:t>: Convert all text in the reviews to lowercase to maintain uniformity.</a:t>
            </a:r>
          </a:p>
          <a:p>
            <a:pPr marL="0" marR="0" lvl="0" indent="0" algn="l" defTabSz="914400" rtl="0" eaLnBrk="0" fontAlgn="base" latinLnBrk="0" hangingPunct="0">
              <a:spcBef>
                <a:spcPct val="0"/>
              </a:spcBef>
              <a:spcAft>
                <a:spcPct val="0"/>
              </a:spcAft>
              <a:buClrTx/>
              <a:buSzTx/>
              <a:tabLst/>
            </a:pPr>
            <a:r>
              <a:rPr kumimoji="0" lang="en-US" altLang="en-US" sz="2000" b="1" i="0" u="none" strike="noStrike" cap="none" normalizeH="0" baseline="0" dirty="0">
                <a:ln>
                  <a:noFill/>
                </a:ln>
                <a:solidFill>
                  <a:schemeClr val="tx2">
                    <a:lumMod val="60000"/>
                    <a:lumOff val="40000"/>
                  </a:schemeClr>
                </a:solidFill>
                <a:effectLst/>
                <a:latin typeface="Sabon Next LT" panose="02000500000000000000" pitchFamily="2" charset="0"/>
                <a:cs typeface="Sabon Next LT" panose="02000500000000000000" pitchFamily="2" charset="0"/>
              </a:rPr>
              <a:t>2.Text Preprocessing</a:t>
            </a:r>
            <a:r>
              <a:rPr kumimoji="0" lang="en-US" altLang="en-US" sz="2000" b="0" i="0" u="none" strike="noStrike" cap="none" normalizeH="0" baseline="0" dirty="0">
                <a:ln>
                  <a:noFill/>
                </a:ln>
                <a:solidFill>
                  <a:schemeClr val="tx2">
                    <a:lumMod val="60000"/>
                    <a:lumOff val="40000"/>
                  </a:schemeClr>
                </a:solidFill>
                <a:effectLst/>
                <a:latin typeface="Sabon Next LT" panose="02000500000000000000" pitchFamily="2" charset="0"/>
                <a:cs typeface="Sabon Next LT" panose="02000500000000000000" pitchFamily="2" charset="0"/>
              </a:rPr>
              <a:t>:</a:t>
            </a:r>
          </a:p>
          <a:p>
            <a:pPr marL="0" marR="0" lvl="0" indent="0" algn="l" defTabSz="914400" rtl="0" eaLnBrk="0" fontAlgn="base" latinLnBrk="0" hangingPunct="0">
              <a:spcBef>
                <a:spcPct val="0"/>
              </a:spcBef>
              <a:spcAft>
                <a:spcPct val="0"/>
              </a:spcAft>
              <a:buClrTx/>
              <a:buSzTx/>
              <a:buFontTx/>
              <a:buChar char="•"/>
              <a:tabLst/>
            </a:pPr>
            <a:r>
              <a:rPr kumimoji="0" lang="en-US" altLang="en-US" sz="2000" b="1" i="0" u="none" strike="noStrike" cap="none" normalizeH="0" baseline="0" dirty="0">
                <a:ln>
                  <a:noFill/>
                </a:ln>
                <a:effectLst/>
                <a:latin typeface="Sabon Next LT" panose="02000500000000000000" pitchFamily="2" charset="0"/>
                <a:cs typeface="Sabon Next LT" panose="02000500000000000000" pitchFamily="2" charset="0"/>
              </a:rPr>
              <a:t>Removing Punctuation</a:t>
            </a:r>
            <a:r>
              <a:rPr kumimoji="0" lang="en-US" altLang="en-US" sz="2000" b="0" i="0" u="none" strike="noStrike" cap="none" normalizeH="0" baseline="0" dirty="0">
                <a:ln>
                  <a:noFill/>
                </a:ln>
                <a:effectLst/>
                <a:latin typeface="Sabon Next LT" panose="02000500000000000000" pitchFamily="2" charset="0"/>
                <a:cs typeface="Sabon Next LT" panose="02000500000000000000" pitchFamily="2" charset="0"/>
              </a:rPr>
              <a:t>: </a:t>
            </a:r>
            <a:r>
              <a:rPr kumimoji="0" lang="en-US" altLang="en-US" sz="2000" b="0" i="0" u="none" strike="noStrike" cap="none" normalizeH="0" baseline="0" dirty="0">
                <a:ln>
                  <a:noFill/>
                </a:ln>
                <a:solidFill>
                  <a:schemeClr val="tx1"/>
                </a:solidFill>
                <a:effectLst/>
                <a:latin typeface="Sabon Next LT" panose="02000500000000000000" pitchFamily="2" charset="0"/>
                <a:cs typeface="Sabon Next LT" panose="02000500000000000000" pitchFamily="2" charset="0"/>
              </a:rPr>
              <a:t>Strip punctuation marks (., !, ?, etc.) as they do not contribute to the sentiment analysis.</a:t>
            </a:r>
          </a:p>
          <a:p>
            <a:pPr marL="0" marR="0" lvl="0" indent="0" algn="l" defTabSz="914400" rtl="0" eaLnBrk="0" fontAlgn="base" latinLnBrk="0" hangingPunct="0">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Sabon Next LT" panose="02000500000000000000" pitchFamily="2" charset="0"/>
                <a:cs typeface="Sabon Next LT" panose="02000500000000000000" pitchFamily="2" charset="0"/>
              </a:rPr>
              <a:t>Removing </a:t>
            </a:r>
            <a:r>
              <a:rPr kumimoji="0" lang="en-US" altLang="en-US" sz="2000" b="1" i="0" u="none" strike="noStrike" cap="none" normalizeH="0" baseline="0" dirty="0" err="1">
                <a:ln>
                  <a:noFill/>
                </a:ln>
                <a:solidFill>
                  <a:schemeClr val="tx1"/>
                </a:solidFill>
                <a:effectLst/>
                <a:latin typeface="Sabon Next LT" panose="02000500000000000000" pitchFamily="2" charset="0"/>
                <a:cs typeface="Sabon Next LT" panose="02000500000000000000" pitchFamily="2" charset="0"/>
              </a:rPr>
              <a:t>Stopwords</a:t>
            </a:r>
            <a:r>
              <a:rPr kumimoji="0" lang="en-US" altLang="en-US" sz="2000" b="0" i="0" u="none" strike="noStrike" cap="none" normalizeH="0" baseline="0" dirty="0">
                <a:ln>
                  <a:noFill/>
                </a:ln>
                <a:solidFill>
                  <a:schemeClr val="tx1"/>
                </a:solidFill>
                <a:effectLst/>
                <a:latin typeface="Sabon Next LT" panose="02000500000000000000" pitchFamily="2" charset="0"/>
                <a:cs typeface="Sabon Next LT" panose="02000500000000000000" pitchFamily="2" charset="0"/>
              </a:rPr>
              <a:t>: Eliminate common words like "the", "is", "and", etc., that do not add value to the sentiment but add noise.</a:t>
            </a:r>
          </a:p>
          <a:p>
            <a:pPr marL="0" marR="0" lvl="0" indent="0" algn="l" defTabSz="914400" rtl="0" eaLnBrk="0" fontAlgn="base" latinLnBrk="0" hangingPunct="0">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Sabon Next LT" panose="02000500000000000000" pitchFamily="2" charset="0"/>
                <a:cs typeface="Sabon Next LT" panose="02000500000000000000" pitchFamily="2" charset="0"/>
              </a:rPr>
              <a:t>Removing URLs and HTML tags</a:t>
            </a:r>
            <a:r>
              <a:rPr kumimoji="0" lang="en-US" altLang="en-US" sz="2000" b="0" i="0" u="none" strike="noStrike" cap="none" normalizeH="0" baseline="0" dirty="0">
                <a:ln>
                  <a:noFill/>
                </a:ln>
                <a:solidFill>
                  <a:schemeClr val="tx1"/>
                </a:solidFill>
                <a:effectLst/>
                <a:latin typeface="Sabon Next LT" panose="02000500000000000000" pitchFamily="2" charset="0"/>
                <a:cs typeface="Sabon Next LT" panose="02000500000000000000" pitchFamily="2" charset="0"/>
              </a:rPr>
              <a:t>: If the review contains URLs or HTML elements, they should be removed.</a:t>
            </a:r>
          </a:p>
          <a:p>
            <a:pPr marL="0" marR="0" lvl="0" indent="0" algn="l" defTabSz="914400" rtl="0" eaLnBrk="0" fontAlgn="base" latinLnBrk="0" hangingPunct="0">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Sabon Next LT" panose="02000500000000000000" pitchFamily="2" charset="0"/>
                <a:cs typeface="Sabon Next LT" panose="02000500000000000000" pitchFamily="2" charset="0"/>
              </a:rPr>
              <a:t>Removing Special Characters and Numbers</a:t>
            </a:r>
            <a:r>
              <a:rPr kumimoji="0" lang="en-US" altLang="en-US" sz="2000" b="0" i="0" u="none" strike="noStrike" cap="none" normalizeH="0" baseline="0" dirty="0">
                <a:ln>
                  <a:noFill/>
                </a:ln>
                <a:solidFill>
                  <a:schemeClr val="tx1"/>
                </a:solidFill>
                <a:effectLst/>
                <a:latin typeface="Sabon Next LT" panose="02000500000000000000" pitchFamily="2" charset="0"/>
                <a:cs typeface="Sabon Next LT" panose="02000500000000000000" pitchFamily="2" charset="0"/>
              </a:rPr>
              <a:t>: Unnecessary symbols, numbers, or special characters are cleaned out of the reviews.</a:t>
            </a:r>
          </a:p>
          <a:p>
            <a:pPr marL="0" marR="0" lvl="0" indent="0" algn="l" defTabSz="914400" rtl="0" eaLnBrk="0" fontAlgn="base" latinLnBrk="0" hangingPunct="0">
              <a:spcBef>
                <a:spcPct val="0"/>
              </a:spcBef>
              <a:spcAft>
                <a:spcPct val="0"/>
              </a:spcAft>
              <a:buClrTx/>
              <a:buSzTx/>
              <a:tabLst/>
            </a:pPr>
            <a:r>
              <a:rPr kumimoji="0" lang="en-US" altLang="en-US" sz="2000" b="1" i="0" u="none" strike="noStrike" cap="none" normalizeH="0" baseline="0" dirty="0">
                <a:ln>
                  <a:noFill/>
                </a:ln>
                <a:solidFill>
                  <a:schemeClr val="tx2">
                    <a:lumMod val="60000"/>
                    <a:lumOff val="40000"/>
                  </a:schemeClr>
                </a:solidFill>
                <a:effectLst/>
                <a:latin typeface="Sabon Next LT" panose="02000500000000000000" pitchFamily="2" charset="0"/>
                <a:cs typeface="Sabon Next LT" panose="02000500000000000000" pitchFamily="2" charset="0"/>
              </a:rPr>
              <a:t>3.Tokenization</a:t>
            </a:r>
            <a:r>
              <a:rPr kumimoji="0" lang="en-US" altLang="en-US" sz="2000" b="0" i="0" u="none" strike="noStrike" cap="none" normalizeH="0" baseline="0" dirty="0">
                <a:ln>
                  <a:noFill/>
                </a:ln>
                <a:solidFill>
                  <a:schemeClr val="accent6">
                    <a:lumMod val="60000"/>
                    <a:lumOff val="40000"/>
                  </a:schemeClr>
                </a:solidFill>
                <a:effectLst/>
                <a:latin typeface="Sabon Next LT" panose="02000500000000000000" pitchFamily="2" charset="0"/>
                <a:cs typeface="Sabon Next LT" panose="02000500000000000000" pitchFamily="2" charset="0"/>
              </a:rPr>
              <a:t>:</a:t>
            </a:r>
            <a:r>
              <a:rPr kumimoji="0" lang="en-US" altLang="en-US" sz="2000" b="0" i="0" u="none" strike="noStrike" cap="none" normalizeH="0" baseline="0" dirty="0">
                <a:ln>
                  <a:noFill/>
                </a:ln>
                <a:solidFill>
                  <a:schemeClr val="tx1"/>
                </a:solidFill>
                <a:effectLst/>
                <a:latin typeface="Sabon Next LT" panose="02000500000000000000" pitchFamily="2" charset="0"/>
                <a:cs typeface="Sabon Next LT" panose="02000500000000000000" pitchFamily="2" charset="0"/>
              </a:rPr>
              <a:t>Split the review text into individual words or tokens, which is useful for further processing and analysis.</a:t>
            </a:r>
          </a:p>
          <a:p>
            <a:pPr marL="0" marR="0" lvl="0" indent="0" algn="l" defTabSz="914400" rtl="0" eaLnBrk="0" fontAlgn="base" latinLnBrk="0" hangingPunct="0">
              <a:spcBef>
                <a:spcPct val="0"/>
              </a:spcBef>
              <a:spcAft>
                <a:spcPct val="0"/>
              </a:spcAft>
              <a:buClrTx/>
              <a:buSzTx/>
              <a:tabLst/>
            </a:pPr>
            <a:r>
              <a:rPr kumimoji="0" lang="en-US" altLang="en-US" sz="2000" b="1" i="0" u="none" strike="noStrike" cap="none" normalizeH="0" baseline="0" dirty="0">
                <a:ln>
                  <a:noFill/>
                </a:ln>
                <a:solidFill>
                  <a:schemeClr val="tx2">
                    <a:lumMod val="60000"/>
                    <a:lumOff val="40000"/>
                  </a:schemeClr>
                </a:solidFill>
                <a:effectLst/>
                <a:latin typeface="Sabon Next LT" panose="02000500000000000000" pitchFamily="2" charset="0"/>
                <a:cs typeface="Sabon Next LT" panose="02000500000000000000" pitchFamily="2" charset="0"/>
              </a:rPr>
              <a:t>4.Stemming</a:t>
            </a:r>
            <a:r>
              <a:rPr kumimoji="0" lang="en-US" altLang="en-US" sz="2000" b="0" i="0" u="none" strike="noStrike" cap="none" normalizeH="0" baseline="0" dirty="0">
                <a:ln>
                  <a:noFill/>
                </a:ln>
                <a:solidFill>
                  <a:schemeClr val="tx2">
                    <a:lumMod val="60000"/>
                    <a:lumOff val="40000"/>
                  </a:schemeClr>
                </a:solidFill>
                <a:effectLst/>
                <a:latin typeface="Sabon Next LT" panose="02000500000000000000" pitchFamily="2" charset="0"/>
                <a:cs typeface="Sabon Next LT" panose="02000500000000000000" pitchFamily="2" charset="0"/>
              </a:rPr>
              <a:t>: </a:t>
            </a:r>
            <a:r>
              <a:rPr kumimoji="0" lang="en-US" altLang="en-US" sz="2000" b="0" i="0" u="none" strike="noStrike" cap="none" normalizeH="0" baseline="0" dirty="0">
                <a:ln>
                  <a:noFill/>
                </a:ln>
                <a:solidFill>
                  <a:schemeClr val="tx1"/>
                </a:solidFill>
                <a:effectLst/>
                <a:latin typeface="Sabon Next LT" panose="02000500000000000000" pitchFamily="2" charset="0"/>
                <a:cs typeface="Sabon Next LT" panose="02000500000000000000" pitchFamily="2" charset="0"/>
              </a:rPr>
              <a:t>Reduce words to their base form (e.g., "running" to "run") to focus on root meanings.</a:t>
            </a:r>
          </a:p>
          <a:p>
            <a:pPr>
              <a:buFont typeface="Arial" panose="020B0604020202020204" pitchFamily="34" charset="0"/>
              <a:buChar char="•"/>
            </a:pPr>
            <a:endParaRPr lang="en-US" sz="2000" dirty="0">
              <a:latin typeface="Sabon Next LT" panose="02000500000000000000" pitchFamily="2" charset="0"/>
              <a:cs typeface="Sabon Next LT" panose="02000500000000000000" pitchFamily="2" charset="0"/>
            </a:endParaRPr>
          </a:p>
          <a:p>
            <a:endParaRPr lang="en-US" sz="2000" dirty="0">
              <a:latin typeface="Sabon Next LT" panose="02000500000000000000" pitchFamily="2" charset="0"/>
              <a:cs typeface="Sabon Next LT" panose="02000500000000000000" pitchFamily="2" charset="0"/>
            </a:endParaRPr>
          </a:p>
        </p:txBody>
      </p:sp>
    </p:spTree>
    <p:extLst>
      <p:ext uri="{BB962C8B-B14F-4D97-AF65-F5344CB8AC3E}">
        <p14:creationId xmlns:p14="http://schemas.microsoft.com/office/powerpoint/2010/main" val="1330828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A39892-DF8C-44A5-630C-9ED9DC51EAAC}"/>
              </a:ext>
            </a:extLst>
          </p:cNvPr>
          <p:cNvSpPr>
            <a:spLocks noGrp="1"/>
          </p:cNvSpPr>
          <p:nvPr>
            <p:ph type="sldNum" sz="quarter" idx="12"/>
          </p:nvPr>
        </p:nvSpPr>
        <p:spPr/>
        <p:txBody>
          <a:bodyPr/>
          <a:lstStyle/>
          <a:p>
            <a:fld id="{48F63A3B-78C7-47BE-AE5E-E10140E04643}" type="slidenum">
              <a:rPr lang="en-US" smtClean="0"/>
              <a:pPr/>
              <a:t>8</a:t>
            </a:fld>
            <a:endParaRPr lang="en-US" dirty="0"/>
          </a:p>
        </p:txBody>
      </p:sp>
      <p:pic>
        <p:nvPicPr>
          <p:cNvPr id="6" name="Picture 5" descr="A colorful circle with numbers and a white circle&#10;&#10;Description automatically generated">
            <a:extLst>
              <a:ext uri="{FF2B5EF4-FFF2-40B4-BE49-F238E27FC236}">
                <a16:creationId xmlns:a16="http://schemas.microsoft.com/office/drawing/2014/main" id="{57B7D378-E387-6631-309E-A09F6F73B9C6}"/>
              </a:ext>
            </a:extLst>
          </p:cNvPr>
          <p:cNvPicPr>
            <a:picLocks noChangeAspect="1"/>
          </p:cNvPicPr>
          <p:nvPr/>
        </p:nvPicPr>
        <p:blipFill>
          <a:blip r:embed="rId2"/>
          <a:stretch>
            <a:fillRect/>
          </a:stretch>
        </p:blipFill>
        <p:spPr>
          <a:xfrm>
            <a:off x="582122" y="1602457"/>
            <a:ext cx="4544059" cy="461422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8" name="Picture 7" descr="A graph of blue bars&#10;&#10;Description automatically generated with medium confidence">
            <a:extLst>
              <a:ext uri="{FF2B5EF4-FFF2-40B4-BE49-F238E27FC236}">
                <a16:creationId xmlns:a16="http://schemas.microsoft.com/office/drawing/2014/main" id="{39C3C12F-19C5-E6D3-301D-D70012495092}"/>
              </a:ext>
            </a:extLst>
          </p:cNvPr>
          <p:cNvPicPr>
            <a:picLocks noChangeAspect="1"/>
          </p:cNvPicPr>
          <p:nvPr/>
        </p:nvPicPr>
        <p:blipFill>
          <a:blip r:embed="rId3"/>
          <a:stretch>
            <a:fillRect/>
          </a:stretch>
        </p:blipFill>
        <p:spPr>
          <a:xfrm>
            <a:off x="5779764" y="1723277"/>
            <a:ext cx="5830114" cy="437258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TextBox 3">
            <a:extLst>
              <a:ext uri="{FF2B5EF4-FFF2-40B4-BE49-F238E27FC236}">
                <a16:creationId xmlns:a16="http://schemas.microsoft.com/office/drawing/2014/main" id="{171A84C5-39E8-733F-5C1F-49F56B602141}"/>
              </a:ext>
            </a:extLst>
          </p:cNvPr>
          <p:cNvSpPr txBox="1"/>
          <p:nvPr/>
        </p:nvSpPr>
        <p:spPr>
          <a:xfrm>
            <a:off x="582122" y="443091"/>
            <a:ext cx="6096000" cy="584775"/>
          </a:xfrm>
          <a:prstGeom prst="rect">
            <a:avLst/>
          </a:prstGeom>
          <a:noFill/>
        </p:spPr>
        <p:txBody>
          <a:bodyPr wrap="square">
            <a:spAutoFit/>
          </a:bodyPr>
          <a:lstStyle/>
          <a:p>
            <a:r>
              <a:rPr lang="en-US" sz="1800" b="1" spc="-84" dirty="0">
                <a:solidFill>
                  <a:schemeClr val="accent1">
                    <a:lumMod val="50000"/>
                  </a:schemeClr>
                </a:solidFill>
                <a:latin typeface="Black Mango"/>
                <a:ea typeface="Black Mango"/>
                <a:cs typeface="Black Mango"/>
                <a:sym typeface="Black Mango"/>
              </a:rPr>
              <a:t> </a:t>
            </a:r>
            <a:r>
              <a:rPr lang="en-US" sz="3200" b="1" spc="-84" dirty="0">
                <a:solidFill>
                  <a:schemeClr val="accent1">
                    <a:lumMod val="50000"/>
                  </a:schemeClr>
                </a:solidFill>
                <a:latin typeface="Black Mango"/>
                <a:ea typeface="Black Mango"/>
                <a:cs typeface="Black Mango"/>
                <a:sym typeface="Black Mango"/>
              </a:rPr>
              <a:t>DATA VISUALIZATION</a:t>
            </a:r>
            <a:endParaRPr lang="en-US" sz="1800" b="1" spc="-84" dirty="0">
              <a:solidFill>
                <a:schemeClr val="accent1">
                  <a:lumMod val="50000"/>
                </a:schemeClr>
              </a:solidFill>
              <a:latin typeface="Black Mango"/>
              <a:ea typeface="Black Mango"/>
              <a:cs typeface="Black Mango"/>
              <a:sym typeface="Black Mango"/>
            </a:endParaRPr>
          </a:p>
        </p:txBody>
      </p:sp>
    </p:spTree>
    <p:extLst>
      <p:ext uri="{BB962C8B-B14F-4D97-AF65-F5344CB8AC3E}">
        <p14:creationId xmlns:p14="http://schemas.microsoft.com/office/powerpoint/2010/main" val="3275547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B7C547-1C77-F6BA-23A5-2645C4760385}"/>
              </a:ext>
            </a:extLst>
          </p:cNvPr>
          <p:cNvSpPr>
            <a:spLocks noGrp="1"/>
          </p:cNvSpPr>
          <p:nvPr>
            <p:ph type="sldNum" sz="quarter" idx="12"/>
          </p:nvPr>
        </p:nvSpPr>
        <p:spPr/>
        <p:txBody>
          <a:bodyPr/>
          <a:lstStyle/>
          <a:p>
            <a:fld id="{48F63A3B-78C7-47BE-AE5E-E10140E04643}" type="slidenum">
              <a:rPr lang="en-US" smtClean="0"/>
              <a:pPr/>
              <a:t>9</a:t>
            </a:fld>
            <a:endParaRPr lang="en-US" dirty="0"/>
          </a:p>
        </p:txBody>
      </p:sp>
      <p:pic>
        <p:nvPicPr>
          <p:cNvPr id="6" name="Picture 5" descr="A diagram of different sizes of objects&#10;&#10;Description automatically generated with medium confidence">
            <a:extLst>
              <a:ext uri="{FF2B5EF4-FFF2-40B4-BE49-F238E27FC236}">
                <a16:creationId xmlns:a16="http://schemas.microsoft.com/office/drawing/2014/main" id="{B31A9C89-7257-128C-6F46-58891AA2FA06}"/>
              </a:ext>
            </a:extLst>
          </p:cNvPr>
          <p:cNvPicPr>
            <a:picLocks noChangeAspect="1"/>
          </p:cNvPicPr>
          <p:nvPr/>
        </p:nvPicPr>
        <p:blipFill>
          <a:blip r:embed="rId2"/>
          <a:stretch>
            <a:fillRect/>
          </a:stretch>
        </p:blipFill>
        <p:spPr>
          <a:xfrm>
            <a:off x="368968" y="753175"/>
            <a:ext cx="5919537" cy="486156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descr="A close-up of words&#10;&#10;Description automatically generated">
            <a:extLst>
              <a:ext uri="{FF2B5EF4-FFF2-40B4-BE49-F238E27FC236}">
                <a16:creationId xmlns:a16="http://schemas.microsoft.com/office/drawing/2014/main" id="{CB6FF11B-7618-47C3-EBC9-A7624618FA91}"/>
              </a:ext>
            </a:extLst>
          </p:cNvPr>
          <p:cNvPicPr>
            <a:picLocks noChangeAspect="1"/>
          </p:cNvPicPr>
          <p:nvPr/>
        </p:nvPicPr>
        <p:blipFill>
          <a:blip r:embed="rId3"/>
          <a:stretch>
            <a:fillRect/>
          </a:stretch>
        </p:blipFill>
        <p:spPr>
          <a:xfrm>
            <a:off x="6898106" y="609601"/>
            <a:ext cx="5081010" cy="5005136"/>
          </a:xfrm>
          <a:prstGeom prst="rect">
            <a:avLst/>
          </a:prstGeom>
        </p:spPr>
      </p:pic>
    </p:spTree>
    <p:extLst>
      <p:ext uri="{BB962C8B-B14F-4D97-AF65-F5344CB8AC3E}">
        <p14:creationId xmlns:p14="http://schemas.microsoft.com/office/powerpoint/2010/main" val="205646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B152A5-F432-AF69-5608-1B6F437CBCC3}"/>
              </a:ext>
            </a:extLst>
          </p:cNvPr>
          <p:cNvSpPr>
            <a:spLocks noGrp="1"/>
          </p:cNvSpPr>
          <p:nvPr>
            <p:ph type="sldNum" sz="quarter" idx="10"/>
          </p:nvPr>
        </p:nvSpPr>
        <p:spPr/>
        <p:txBody>
          <a:bodyPr/>
          <a:lstStyle/>
          <a:p>
            <a:fld id="{48F63A3B-78C7-47BE-AE5E-E10140E04643}" type="slidenum">
              <a:rPr lang="en-US" smtClean="0"/>
              <a:pPr/>
              <a:t>10</a:t>
            </a:fld>
            <a:endParaRPr lang="en-US" dirty="0"/>
          </a:p>
        </p:txBody>
      </p:sp>
      <p:sp>
        <p:nvSpPr>
          <p:cNvPr id="7" name="TextBox 6">
            <a:extLst>
              <a:ext uri="{FF2B5EF4-FFF2-40B4-BE49-F238E27FC236}">
                <a16:creationId xmlns:a16="http://schemas.microsoft.com/office/drawing/2014/main" id="{86E9482D-BED3-797E-A6F2-94F23C0D20C1}"/>
              </a:ext>
            </a:extLst>
          </p:cNvPr>
          <p:cNvSpPr txBox="1"/>
          <p:nvPr/>
        </p:nvSpPr>
        <p:spPr>
          <a:xfrm>
            <a:off x="765973" y="692943"/>
            <a:ext cx="8162211" cy="5247077"/>
          </a:xfrm>
          <a:prstGeom prst="rect">
            <a:avLst/>
          </a:prstGeom>
          <a:noFill/>
        </p:spPr>
        <p:txBody>
          <a:bodyPr wrap="square">
            <a:spAutoFit/>
          </a:bodyPr>
          <a:lstStyle/>
          <a:p>
            <a:r>
              <a:rPr lang="en-US" sz="3200" b="1" spc="-84" dirty="0">
                <a:solidFill>
                  <a:schemeClr val="accent2">
                    <a:lumMod val="75000"/>
                  </a:schemeClr>
                </a:solidFill>
                <a:latin typeface="Sabon Next LT" panose="02000500000000000000" pitchFamily="2" charset="0"/>
                <a:ea typeface="Black Mango"/>
                <a:cs typeface="Sabon Next LT" panose="02000500000000000000" pitchFamily="2" charset="0"/>
                <a:sym typeface="Black Mango"/>
              </a:rPr>
              <a:t>MODEL SELECTION</a:t>
            </a:r>
            <a:endParaRPr lang="en-US" sz="3200" b="1" dirty="0">
              <a:solidFill>
                <a:schemeClr val="accent2">
                  <a:lumMod val="75000"/>
                </a:schemeClr>
              </a:solidFill>
              <a:latin typeface="Sabon Next LT" panose="02000500000000000000" pitchFamily="2" charset="0"/>
              <a:cs typeface="Sabon Next LT" panose="02000500000000000000" pitchFamily="2" charset="0"/>
            </a:endParaRPr>
          </a:p>
          <a:p>
            <a:pPr>
              <a:lnSpc>
                <a:spcPct val="150000"/>
              </a:lnSpc>
            </a:pPr>
            <a:r>
              <a:rPr lang="en-US" sz="2000" dirty="0">
                <a:latin typeface="Sabon Next LT" panose="02000500000000000000" pitchFamily="2" charset="0"/>
                <a:cs typeface="Sabon Next LT" panose="02000500000000000000" pitchFamily="2" charset="0"/>
              </a:rPr>
              <a:t>In Flipkart review sentiment analysis, a </a:t>
            </a:r>
            <a:r>
              <a:rPr lang="en-US" sz="2000" b="1" dirty="0">
                <a:latin typeface="Sabon Next LT" panose="02000500000000000000" pitchFamily="2" charset="0"/>
                <a:cs typeface="Sabon Next LT" panose="02000500000000000000" pitchFamily="2" charset="0"/>
              </a:rPr>
              <a:t>sentiment prediction model</a:t>
            </a:r>
            <a:r>
              <a:rPr lang="en-US" sz="2000" dirty="0">
                <a:latin typeface="Sabon Next LT" panose="02000500000000000000" pitchFamily="2" charset="0"/>
                <a:cs typeface="Sabon Next LT" panose="02000500000000000000" pitchFamily="2" charset="0"/>
              </a:rPr>
              <a:t> typically involves Natural Language Processing (NLP) techniques to classify reviews as positive, negative, or neutral. </a:t>
            </a:r>
          </a:p>
          <a:p>
            <a:pPr>
              <a:lnSpc>
                <a:spcPct val="150000"/>
              </a:lnSpc>
            </a:pPr>
            <a:r>
              <a:rPr lang="en-US" sz="2400" b="1" u="sng" dirty="0">
                <a:solidFill>
                  <a:srgbClr val="0070C0"/>
                </a:solidFill>
                <a:latin typeface="Sabon Next LT" panose="02000500000000000000" pitchFamily="2" charset="0"/>
                <a:cs typeface="Sabon Next LT" panose="02000500000000000000" pitchFamily="2" charset="0"/>
              </a:rPr>
              <a:t>NLTK Library for Sentiment Analysis</a:t>
            </a:r>
          </a:p>
          <a:p>
            <a:pPr>
              <a:lnSpc>
                <a:spcPct val="150000"/>
              </a:lnSpc>
            </a:pPr>
            <a:r>
              <a:rPr lang="en-US" sz="2000" dirty="0">
                <a:latin typeface="Sabon Next LT" panose="02000500000000000000" pitchFamily="2" charset="0"/>
                <a:cs typeface="Sabon Next LT" panose="02000500000000000000" pitchFamily="2" charset="0"/>
              </a:rPr>
              <a:t>The </a:t>
            </a:r>
            <a:r>
              <a:rPr lang="en-US" sz="2000" b="1" dirty="0">
                <a:latin typeface="Sabon Next LT" panose="02000500000000000000" pitchFamily="2" charset="0"/>
                <a:cs typeface="Sabon Next LT" panose="02000500000000000000" pitchFamily="2" charset="0"/>
              </a:rPr>
              <a:t>NLTK (Natural Language Toolkit)</a:t>
            </a:r>
            <a:r>
              <a:rPr lang="en-US" sz="2000" dirty="0">
                <a:latin typeface="Sabon Next LT" panose="02000500000000000000" pitchFamily="2" charset="0"/>
                <a:cs typeface="Sabon Next LT" panose="02000500000000000000" pitchFamily="2" charset="0"/>
              </a:rPr>
              <a:t> library is one of the most popular Python libraries for natural language processing (NLP). It offers a wide range of tools to handle text preprocessing, tokenization, stemming, and also comes with pre-trained models for sentiment analysis. One of the most commonly used sentiment analysis tools in NLTK is the </a:t>
            </a:r>
            <a:r>
              <a:rPr lang="en-US" sz="2000" b="1" dirty="0">
                <a:latin typeface="Sabon Next LT" panose="02000500000000000000" pitchFamily="2" charset="0"/>
                <a:cs typeface="Sabon Next LT" panose="02000500000000000000" pitchFamily="2" charset="0"/>
              </a:rPr>
              <a:t>VADER (Valence Aware Dictionary and Sentiment Reasoner)</a:t>
            </a:r>
            <a:r>
              <a:rPr lang="en-US" sz="2000" dirty="0">
                <a:latin typeface="Sabon Next LT" panose="02000500000000000000" pitchFamily="2" charset="0"/>
                <a:cs typeface="Sabon Next LT" panose="02000500000000000000" pitchFamily="2" charset="0"/>
              </a:rPr>
              <a:t> model.</a:t>
            </a:r>
            <a:endParaRPr lang="en-IN" sz="2000" dirty="0">
              <a:latin typeface="Sabon Next LT" panose="02000500000000000000" pitchFamily="2" charset="0"/>
              <a:cs typeface="Sabon Next LT" panose="02000500000000000000" pitchFamily="2" charset="0"/>
            </a:endParaRPr>
          </a:p>
        </p:txBody>
      </p:sp>
    </p:spTree>
    <p:extLst>
      <p:ext uri="{BB962C8B-B14F-4D97-AF65-F5344CB8AC3E}">
        <p14:creationId xmlns:p14="http://schemas.microsoft.com/office/powerpoint/2010/main" val="3632688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510C64-5DE7-7605-61B9-8BE0C28A588F}"/>
              </a:ext>
            </a:extLst>
          </p:cNvPr>
          <p:cNvSpPr>
            <a:spLocks noGrp="1"/>
          </p:cNvSpPr>
          <p:nvPr>
            <p:ph type="sldNum" sz="quarter" idx="10"/>
          </p:nvPr>
        </p:nvSpPr>
        <p:spPr/>
        <p:txBody>
          <a:bodyPr/>
          <a:lstStyle/>
          <a:p>
            <a:fld id="{48F63A3B-78C7-47BE-AE5E-E10140E04643}" type="slidenum">
              <a:rPr lang="en-US" smtClean="0"/>
              <a:pPr/>
              <a:t>11</a:t>
            </a:fld>
            <a:endParaRPr lang="en-US" dirty="0"/>
          </a:p>
        </p:txBody>
      </p:sp>
      <p:sp>
        <p:nvSpPr>
          <p:cNvPr id="8" name="TextBox 7">
            <a:extLst>
              <a:ext uri="{FF2B5EF4-FFF2-40B4-BE49-F238E27FC236}">
                <a16:creationId xmlns:a16="http://schemas.microsoft.com/office/drawing/2014/main" id="{202397D2-0B1F-6A09-0072-7079657A5734}"/>
              </a:ext>
            </a:extLst>
          </p:cNvPr>
          <p:cNvSpPr txBox="1"/>
          <p:nvPr/>
        </p:nvSpPr>
        <p:spPr>
          <a:xfrm>
            <a:off x="765974" y="692943"/>
            <a:ext cx="10026944" cy="2646878"/>
          </a:xfrm>
          <a:prstGeom prst="rect">
            <a:avLst/>
          </a:prstGeom>
          <a:noFill/>
        </p:spPr>
        <p:txBody>
          <a:bodyPr wrap="square">
            <a:spAutoFit/>
          </a:bodyPr>
          <a:lstStyle/>
          <a:p>
            <a:pPr>
              <a:lnSpc>
                <a:spcPct val="150000"/>
              </a:lnSpc>
            </a:pPr>
            <a:r>
              <a:rPr lang="en-US" sz="2400" dirty="0">
                <a:latin typeface="Sabon Next LT" panose="02000500000000000000" pitchFamily="2" charset="0"/>
                <a:cs typeface="Sabon Next LT" panose="02000500000000000000" pitchFamily="2" charset="0"/>
              </a:rPr>
              <a:t>Models used for prediction in sentiment analysis is:</a:t>
            </a:r>
          </a:p>
          <a:p>
            <a:pPr>
              <a:lnSpc>
                <a:spcPct val="150000"/>
              </a:lnSpc>
            </a:pPr>
            <a:r>
              <a:rPr lang="en-US" sz="2000" b="1" u="sng" dirty="0">
                <a:solidFill>
                  <a:srgbClr val="0070C0"/>
                </a:solidFill>
                <a:latin typeface="Sabon Next LT" panose="02000500000000000000" pitchFamily="2" charset="0"/>
                <a:cs typeface="Sabon Next LT" panose="02000500000000000000" pitchFamily="2" charset="0"/>
              </a:rPr>
              <a:t>1.VADER-Valence Aware Dictionary and Sentiment Reasoner</a:t>
            </a:r>
          </a:p>
          <a:p>
            <a:r>
              <a:rPr lang="en-US" sz="2000" dirty="0">
                <a:latin typeface="Sabon Next LT" panose="02000500000000000000" pitchFamily="2" charset="0"/>
                <a:cs typeface="Sabon Next LT" panose="02000500000000000000" pitchFamily="2" charset="0"/>
              </a:rPr>
              <a:t>It is a pre-trained model for sentiment analysis, especially tuned for social media text. It measures sentiment intensity across positive, negative, and neutral categories.</a:t>
            </a:r>
          </a:p>
          <a:p>
            <a:r>
              <a:rPr lang="en-US" sz="2000" dirty="0">
                <a:latin typeface="Sabon Next LT" panose="02000500000000000000" pitchFamily="2" charset="0"/>
                <a:cs typeface="Sabon Next LT" panose="02000500000000000000" pitchFamily="2" charset="0"/>
              </a:rPr>
              <a:t>For product reviews (like Flipkart reviews), you can apply VADER to a dataset of reviews to analyze the sentiment of each review and get a sense of overall customer satisfaction.</a:t>
            </a:r>
          </a:p>
          <a:p>
            <a:endParaRPr lang="en-IN" sz="2000" dirty="0">
              <a:cs typeface="Arial" panose="020B0604020202020204" pitchFamily="34" charset="0"/>
            </a:endParaRPr>
          </a:p>
        </p:txBody>
      </p:sp>
      <p:sp>
        <p:nvSpPr>
          <p:cNvPr id="3" name="TextBox 2">
            <a:extLst>
              <a:ext uri="{FF2B5EF4-FFF2-40B4-BE49-F238E27FC236}">
                <a16:creationId xmlns:a16="http://schemas.microsoft.com/office/drawing/2014/main" id="{A0D4C8CF-1BEF-AFAA-7050-933E679E74FF}"/>
              </a:ext>
            </a:extLst>
          </p:cNvPr>
          <p:cNvSpPr txBox="1"/>
          <p:nvPr/>
        </p:nvSpPr>
        <p:spPr>
          <a:xfrm>
            <a:off x="737309" y="3104077"/>
            <a:ext cx="10880594" cy="1015663"/>
          </a:xfrm>
          <a:prstGeom prst="rect">
            <a:avLst/>
          </a:prstGeom>
          <a:noFill/>
        </p:spPr>
        <p:txBody>
          <a:bodyPr wrap="square">
            <a:spAutoFit/>
          </a:bodyPr>
          <a:lstStyle/>
          <a:p>
            <a:r>
              <a:rPr lang="en-US" sz="2000" b="1" u="sng" dirty="0">
                <a:solidFill>
                  <a:srgbClr val="0070C0"/>
                </a:solidFill>
                <a:latin typeface="Sabon Next LT" panose="02000500000000000000" pitchFamily="2" charset="0"/>
                <a:cs typeface="Sabon Next LT" panose="02000500000000000000" pitchFamily="2" charset="0"/>
              </a:rPr>
              <a:t>2. Logistic Regression:</a:t>
            </a:r>
          </a:p>
          <a:p>
            <a:r>
              <a:rPr lang="en-US" sz="2000" b="1" dirty="0">
                <a:latin typeface="Sabon Next LT" panose="02000500000000000000" pitchFamily="2" charset="0"/>
                <a:cs typeface="Sabon Next LT" panose="02000500000000000000" pitchFamily="2" charset="0"/>
              </a:rPr>
              <a:t>Logistic Regression</a:t>
            </a:r>
            <a:r>
              <a:rPr lang="en-US" sz="2000" dirty="0">
                <a:latin typeface="Sabon Next LT" panose="02000500000000000000" pitchFamily="2" charset="0"/>
                <a:cs typeface="Sabon Next LT" panose="02000500000000000000" pitchFamily="2" charset="0"/>
              </a:rPr>
              <a:t> is a common classification algorithm used in sentiment analysis when the task is to classify reviews as positive, negative, or neutral.</a:t>
            </a:r>
          </a:p>
        </p:txBody>
      </p:sp>
      <p:sp>
        <p:nvSpPr>
          <p:cNvPr id="6" name="TextBox 5">
            <a:extLst>
              <a:ext uri="{FF2B5EF4-FFF2-40B4-BE49-F238E27FC236}">
                <a16:creationId xmlns:a16="http://schemas.microsoft.com/office/drawing/2014/main" id="{3B6445AA-4E96-B0EC-6C03-280DB32B6D2E}"/>
              </a:ext>
            </a:extLst>
          </p:cNvPr>
          <p:cNvSpPr txBox="1"/>
          <p:nvPr/>
        </p:nvSpPr>
        <p:spPr>
          <a:xfrm>
            <a:off x="713245" y="4403770"/>
            <a:ext cx="10904657" cy="1631216"/>
          </a:xfrm>
          <a:prstGeom prst="rect">
            <a:avLst/>
          </a:prstGeom>
          <a:noFill/>
        </p:spPr>
        <p:txBody>
          <a:bodyPr wrap="square">
            <a:spAutoFit/>
          </a:bodyPr>
          <a:lstStyle/>
          <a:p>
            <a:r>
              <a:rPr lang="en-US" sz="2000" b="1" u="sng" dirty="0">
                <a:solidFill>
                  <a:srgbClr val="0070C0"/>
                </a:solidFill>
                <a:latin typeface="Sabon Next LT" panose="02000500000000000000" pitchFamily="2" charset="0"/>
                <a:cs typeface="Sabon Next LT" panose="02000500000000000000" pitchFamily="2" charset="0"/>
              </a:rPr>
              <a:t>3.Support Vector Machine (SVM):</a:t>
            </a:r>
          </a:p>
          <a:p>
            <a:r>
              <a:rPr lang="en-US" sz="2000" b="1" dirty="0">
                <a:latin typeface="Sabon Next LT" panose="02000500000000000000" pitchFamily="2" charset="0"/>
                <a:cs typeface="Sabon Next LT" panose="02000500000000000000" pitchFamily="2" charset="0"/>
              </a:rPr>
              <a:t>SVM</a:t>
            </a:r>
            <a:r>
              <a:rPr lang="en-US" sz="2000" dirty="0">
                <a:latin typeface="Sabon Next LT" panose="02000500000000000000" pitchFamily="2" charset="0"/>
                <a:cs typeface="Sabon Next LT" panose="02000500000000000000" pitchFamily="2" charset="0"/>
              </a:rPr>
              <a:t> is another model that can be used for sentiment classification. It aims to find the hyperplane that best separates positive, negative, and neutral reviews based on feature vectors generated from the </a:t>
            </a:r>
            <a:r>
              <a:rPr lang="en-US" sz="2000" dirty="0" err="1">
                <a:latin typeface="Sabon Next LT" panose="02000500000000000000" pitchFamily="2" charset="0"/>
                <a:cs typeface="Sabon Next LT" panose="02000500000000000000" pitchFamily="2" charset="0"/>
              </a:rPr>
              <a:t>text.SVM</a:t>
            </a:r>
            <a:r>
              <a:rPr lang="en-US" sz="2000" dirty="0">
                <a:latin typeface="Sabon Next LT" panose="02000500000000000000" pitchFamily="2" charset="0"/>
                <a:cs typeface="Sabon Next LT" panose="02000500000000000000" pitchFamily="2" charset="0"/>
              </a:rPr>
              <a:t> is often used when there is a need for a more robust model that can handle high-dimensional data such as text features from reviews.</a:t>
            </a:r>
          </a:p>
        </p:txBody>
      </p:sp>
    </p:spTree>
    <p:extLst>
      <p:ext uri="{BB962C8B-B14F-4D97-AF65-F5344CB8AC3E}">
        <p14:creationId xmlns:p14="http://schemas.microsoft.com/office/powerpoint/2010/main" val="1795994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F0B1EA-6C13-761D-CA30-DE51CB60185F}"/>
              </a:ext>
            </a:extLst>
          </p:cNvPr>
          <p:cNvSpPr>
            <a:spLocks noGrp="1"/>
          </p:cNvSpPr>
          <p:nvPr>
            <p:ph type="sldNum" sz="quarter" idx="10"/>
          </p:nvPr>
        </p:nvSpPr>
        <p:spPr/>
        <p:txBody>
          <a:bodyPr/>
          <a:lstStyle/>
          <a:p>
            <a:fld id="{48F63A3B-78C7-47BE-AE5E-E10140E04643}" type="slidenum">
              <a:rPr lang="en-US" smtClean="0"/>
              <a:pPr/>
              <a:t>12</a:t>
            </a:fld>
            <a:endParaRPr lang="en-US" dirty="0"/>
          </a:p>
        </p:txBody>
      </p:sp>
      <p:sp>
        <p:nvSpPr>
          <p:cNvPr id="6" name="TextBox 5">
            <a:extLst>
              <a:ext uri="{FF2B5EF4-FFF2-40B4-BE49-F238E27FC236}">
                <a16:creationId xmlns:a16="http://schemas.microsoft.com/office/drawing/2014/main" id="{0A72D335-1E4A-9E57-353A-C78D76F1190C}"/>
              </a:ext>
            </a:extLst>
          </p:cNvPr>
          <p:cNvSpPr txBox="1"/>
          <p:nvPr/>
        </p:nvSpPr>
        <p:spPr>
          <a:xfrm>
            <a:off x="3625515" y="189908"/>
            <a:ext cx="7800511" cy="6478184"/>
          </a:xfrm>
          <a:prstGeom prst="rect">
            <a:avLst/>
          </a:prstGeom>
          <a:noFill/>
        </p:spPr>
        <p:txBody>
          <a:bodyPr wrap="square">
            <a:spAutoFit/>
          </a:bodyPr>
          <a:lstStyle/>
          <a:p>
            <a:r>
              <a:rPr lang="en-US" sz="2800" b="1" u="sng" dirty="0">
                <a:solidFill>
                  <a:schemeClr val="bg2">
                    <a:lumMod val="50000"/>
                  </a:schemeClr>
                </a:solidFill>
                <a:latin typeface="Sabon Next LT" panose="02000500000000000000" pitchFamily="2" charset="0"/>
                <a:ea typeface="Canva Sans Bold"/>
                <a:cs typeface="Sabon Next LT" panose="02000500000000000000" pitchFamily="2" charset="0"/>
                <a:sym typeface="Canva Sans Bold"/>
              </a:rPr>
              <a:t>Best Model Selection:</a:t>
            </a:r>
          </a:p>
          <a:p>
            <a:pPr>
              <a:lnSpc>
                <a:spcPct val="150000"/>
              </a:lnSpc>
            </a:pPr>
            <a:r>
              <a:rPr lang="en-IN" sz="2000" dirty="0">
                <a:latin typeface="Sabon Next LT" panose="02000500000000000000" pitchFamily="2" charset="0"/>
                <a:cs typeface="Sabon Next LT" panose="02000500000000000000" pitchFamily="2" charset="0"/>
              </a:rPr>
              <a:t>VADER is often selected as the best model for Flipkart review sentiment analysis due to its unique design tailored for social media and online text data, where brevity and emotive language are prevalent. Its lexicon-based approach allows it to effectively gauge sentiment from short, informal reviews, making it highly effective in capturing nuances like sarcasm and sentiment intensity. VADER's ability to process sentiment scores for various aspects of a review provides valuable insights, and its speed and efficiency make it suitable for real-time applications. Furthermore, it requires minimal preprocessing, which simplifies implementation compared to more complex models. Overall, VADER strikes an optimal balance between accuracy, interpretability, and ease of use, making it a preferred choice for sentiment analysis in e-commerce platforms like Flipkart.</a:t>
            </a:r>
          </a:p>
        </p:txBody>
      </p:sp>
    </p:spTree>
    <p:extLst>
      <p:ext uri="{BB962C8B-B14F-4D97-AF65-F5344CB8AC3E}">
        <p14:creationId xmlns:p14="http://schemas.microsoft.com/office/powerpoint/2010/main" val="3913742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9134114-AAEA-034F-0DB6-0F83F94FFA6E}"/>
              </a:ext>
            </a:extLst>
          </p:cNvPr>
          <p:cNvSpPr txBox="1"/>
          <p:nvPr/>
        </p:nvSpPr>
        <p:spPr>
          <a:xfrm>
            <a:off x="671073" y="156126"/>
            <a:ext cx="9867276" cy="5975418"/>
          </a:xfrm>
          <a:prstGeom prst="rect">
            <a:avLst/>
          </a:prstGeom>
          <a:noFill/>
        </p:spPr>
        <p:txBody>
          <a:bodyPr wrap="square">
            <a:spAutoFit/>
          </a:bodyPr>
          <a:lstStyle/>
          <a:p>
            <a:r>
              <a:rPr lang="en-US" sz="2800" b="1" dirty="0">
                <a:solidFill>
                  <a:srgbClr val="7030A0"/>
                </a:solidFill>
                <a:latin typeface="Sabon Next LT" panose="02000500000000000000" pitchFamily="2" charset="0"/>
                <a:cs typeface="Sabon Next LT" panose="02000500000000000000" pitchFamily="2" charset="0"/>
              </a:rPr>
              <a:t>Conclusion/Summary from the Flipkart Review Sentiment Analysis</a:t>
            </a:r>
          </a:p>
          <a:p>
            <a:pPr>
              <a:lnSpc>
                <a:spcPct val="150000"/>
              </a:lnSpc>
            </a:pPr>
            <a:r>
              <a:rPr lang="en-US" sz="2000" dirty="0">
                <a:latin typeface="Sabon Next LT" panose="02000500000000000000" pitchFamily="2" charset="0"/>
                <a:cs typeface="Sabon Next LT" panose="02000500000000000000" pitchFamily="2" charset="0"/>
              </a:rPr>
              <a:t>By analyzing the sentiment scores of the Flipkart reviews using VADER, we can determine the general mood or sentiment of the </a:t>
            </a:r>
            <a:r>
              <a:rPr lang="en-US" sz="2000" dirty="0" err="1">
                <a:latin typeface="Sabon Next LT" panose="02000500000000000000" pitchFamily="2" charset="0"/>
                <a:cs typeface="Sabon Next LT" panose="02000500000000000000" pitchFamily="2" charset="0"/>
              </a:rPr>
              <a:t>customers.Using</a:t>
            </a:r>
            <a:r>
              <a:rPr lang="en-US" sz="2000" dirty="0">
                <a:latin typeface="Sabon Next LT" panose="02000500000000000000" pitchFamily="2" charset="0"/>
                <a:cs typeface="Sabon Next LT" panose="02000500000000000000" pitchFamily="2" charset="0"/>
              </a:rPr>
              <a:t> visualizations like the </a:t>
            </a:r>
            <a:r>
              <a:rPr lang="en-US" sz="2000" b="1" dirty="0">
                <a:latin typeface="Sabon Next LT" panose="02000500000000000000" pitchFamily="2" charset="0"/>
                <a:cs typeface="Sabon Next LT" panose="02000500000000000000" pitchFamily="2" charset="0"/>
              </a:rPr>
              <a:t>violin plot</a:t>
            </a:r>
            <a:r>
              <a:rPr lang="en-US" sz="2000" dirty="0">
                <a:latin typeface="Sabon Next LT" panose="02000500000000000000" pitchFamily="2" charset="0"/>
                <a:cs typeface="Sabon Next LT" panose="02000500000000000000" pitchFamily="2" charset="0"/>
              </a:rPr>
              <a:t> or </a:t>
            </a:r>
            <a:r>
              <a:rPr lang="en-US" sz="2000" b="1" dirty="0">
                <a:latin typeface="Sabon Next LT" panose="02000500000000000000" pitchFamily="2" charset="0"/>
                <a:cs typeface="Sabon Next LT" panose="02000500000000000000" pitchFamily="2" charset="0"/>
              </a:rPr>
              <a:t>bar charts</a:t>
            </a:r>
            <a:r>
              <a:rPr lang="en-US" sz="2000" dirty="0">
                <a:latin typeface="Sabon Next LT" panose="02000500000000000000" pitchFamily="2" charset="0"/>
                <a:cs typeface="Sabon Next LT" panose="02000500000000000000" pitchFamily="2" charset="0"/>
              </a:rPr>
              <a:t> of ratings and sentiment scores, we can see how the sentiment relates to the numerical ratings given by users. The sentiment analysis provides a quick, scalable way to understand thousands of customer reviews. This can help Flipkart or sellers gauge product reception, improve services, and cater better to customer expectations. </a:t>
            </a:r>
          </a:p>
          <a:p>
            <a:pPr>
              <a:lnSpc>
                <a:spcPct val="150000"/>
              </a:lnSpc>
            </a:pPr>
            <a:r>
              <a:rPr lang="en-US" sz="2000">
                <a:latin typeface="Sabon Next LT" panose="02000500000000000000" pitchFamily="2" charset="0"/>
                <a:cs typeface="Sabon Next LT" panose="02000500000000000000" pitchFamily="2" charset="0"/>
              </a:rPr>
              <a:t>		Overall</a:t>
            </a:r>
            <a:r>
              <a:rPr lang="en-US" sz="2000" dirty="0" err="1">
                <a:latin typeface="Sabon Next LT" panose="02000500000000000000" pitchFamily="2" charset="0"/>
                <a:cs typeface="Sabon Next LT" panose="02000500000000000000" pitchFamily="2" charset="0"/>
              </a:rPr>
              <a:t>,we</a:t>
            </a:r>
            <a:r>
              <a:rPr lang="en-US" sz="2000" dirty="0">
                <a:latin typeface="Sabon Next LT" panose="02000500000000000000" pitchFamily="2" charset="0"/>
                <a:cs typeface="Sabon Next LT" panose="02000500000000000000" pitchFamily="2" charset="0"/>
              </a:rPr>
              <a:t> can conclude that from above analysis most </a:t>
            </a:r>
            <a:r>
              <a:rPr lang="en-US" sz="2000" b="0" i="0" dirty="0">
                <a:effectLst/>
                <a:latin typeface="Sabon Next LT" panose="02000500000000000000" pitchFamily="2" charset="0"/>
                <a:cs typeface="Sabon Next LT" panose="02000500000000000000" pitchFamily="2" charset="0"/>
              </a:rPr>
              <a:t>people have been given Neutral reviews, and a small proportion of people have given Negative reviews. So we can </a:t>
            </a:r>
            <a:r>
              <a:rPr lang="en-US" sz="2000" dirty="0">
                <a:latin typeface="Sabon Next LT" panose="02000500000000000000" pitchFamily="2" charset="0"/>
                <a:cs typeface="Sabon Next LT" panose="02000500000000000000" pitchFamily="2" charset="0"/>
              </a:rPr>
              <a:t>conclude</a:t>
            </a:r>
            <a:r>
              <a:rPr lang="en-US" sz="2000" b="0" i="0" dirty="0">
                <a:effectLst/>
                <a:latin typeface="Sabon Next LT" panose="02000500000000000000" pitchFamily="2" charset="0"/>
                <a:cs typeface="Sabon Next LT" panose="02000500000000000000" pitchFamily="2" charset="0"/>
              </a:rPr>
              <a:t> that people are satisfied with Flipkart products and services.</a:t>
            </a:r>
            <a:endParaRPr lang="en-IN" sz="2000" dirty="0">
              <a:latin typeface="Sabon Next LT" panose="02000500000000000000" pitchFamily="2" charset="0"/>
              <a:cs typeface="Sabon Next LT" panose="02000500000000000000" pitchFamily="2" charset="0"/>
            </a:endParaRPr>
          </a:p>
          <a:p>
            <a:pPr>
              <a:lnSpc>
                <a:spcPct val="150000"/>
              </a:lnSpc>
            </a:pPr>
            <a:endParaRPr lang="en-US" sz="2000" dirty="0">
              <a:latin typeface="Arial" panose="020B0604020202020204" pitchFamily="34" charset="0"/>
              <a:cs typeface="Arial" panose="020B0604020202020204" pitchFamily="34" charset="0"/>
            </a:endParaRPr>
          </a:p>
          <a:p>
            <a:pPr>
              <a:lnSpc>
                <a:spcPct val="150000"/>
              </a:lnSpc>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6806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EDAB4-63D1-F033-9466-6D60848C810A}"/>
              </a:ext>
            </a:extLst>
          </p:cNvPr>
          <p:cNvSpPr>
            <a:spLocks noGrp="1"/>
          </p:cNvSpPr>
          <p:nvPr>
            <p:ph type="ctrTitle"/>
          </p:nvPr>
        </p:nvSpPr>
        <p:spPr>
          <a:xfrm>
            <a:off x="1034322" y="3285789"/>
            <a:ext cx="7163194" cy="1463877"/>
          </a:xfrm>
        </p:spPr>
        <p:txBody>
          <a:bodyPr/>
          <a:lstStyle/>
          <a:p>
            <a:r>
              <a:rPr lang="en-IN" sz="9600" dirty="0">
                <a:solidFill>
                  <a:schemeClr val="tx2">
                    <a:lumMod val="60000"/>
                    <a:lumOff val="40000"/>
                  </a:schemeClr>
                </a:solidFill>
                <a:latin typeface="Sabon Next LT" panose="02000500000000000000" pitchFamily="2" charset="0"/>
                <a:cs typeface="Sabon Next LT" panose="02000500000000000000" pitchFamily="2" charset="0"/>
              </a:rPr>
              <a:t>THANK YOU</a:t>
            </a:r>
          </a:p>
        </p:txBody>
      </p:sp>
    </p:spTree>
    <p:extLst>
      <p:ext uri="{BB962C8B-B14F-4D97-AF65-F5344CB8AC3E}">
        <p14:creationId xmlns:p14="http://schemas.microsoft.com/office/powerpoint/2010/main" val="33811693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Integral</Template>
  <TotalTime>940</TotalTime>
  <Words>1325</Words>
  <Application>Microsoft Office PowerPoint</Application>
  <PresentationFormat>Widescreen</PresentationFormat>
  <Paragraphs>76</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Black Mango</vt:lpstr>
      <vt:lpstr>Calibri</vt:lpstr>
      <vt:lpstr>Sabon Next LT</vt:lpstr>
      <vt:lpstr>Tw Cen MT</vt:lpstr>
      <vt:lpstr>Tw Cen MT Condensed</vt:lpstr>
      <vt:lpstr>Wingdings 3</vt:lpstr>
      <vt:lpstr>Integral</vt:lpstr>
      <vt:lpstr>Flipkart Reviews Sentiment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dhilna david</dc:creator>
  <cp:lastModifiedBy>dhilna david</cp:lastModifiedBy>
  <cp:revision>4</cp:revision>
  <dcterms:created xsi:type="dcterms:W3CDTF">2024-09-21T02:25:19Z</dcterms:created>
  <dcterms:modified xsi:type="dcterms:W3CDTF">2024-09-22T13:39:47Z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